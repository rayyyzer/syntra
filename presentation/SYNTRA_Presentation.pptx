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71"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4E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95" d="100"/>
          <a:sy n="95" d="100"/>
        </p:scale>
        <p:origin x="206"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E9A8C-3F50-49F8-A835-316C22A1110D}" type="datetimeFigureOut">
              <a:rPr lang="en-IN" smtClean="0"/>
              <a:t>30-09-2026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3343F9-2D09-4642-A3BD-5BF627A067F3}" type="slidenum">
              <a:rPr lang="en-IN" smtClean="0"/>
              <a:t>‹#›</a:t>
            </a:fld>
            <a:endParaRPr lang="en-IN"/>
          </a:p>
        </p:txBody>
      </p:sp>
    </p:spTree>
    <p:extLst>
      <p:ext uri="{BB962C8B-B14F-4D97-AF65-F5344CB8AC3E}">
        <p14:creationId xmlns:p14="http://schemas.microsoft.com/office/powerpoint/2010/main" val="569163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for the 3rd edition of the PRISM Generative AI Hackathon. Replace the SAMSUNG PRISM pill with the official PRISM logo image if you have the asset. Confirm the academic year label (2026-27) before circulating.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FE64-7CE6-4299-B8FE-939866A3EB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E4360C-492F-4E2E-B967-599B2BD31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870CDB-78C3-4602-B35C-A826CBF20916}"/>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F585EF81-E96A-4C8D-A4F0-A9DF05C49C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FA2448-68BE-42AE-8001-48ECE62DC431}"/>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551206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5E08-CE8A-45BE-8C3E-C04A49CC8A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FCCB0C-95AB-4F7A-955D-2DC18750BF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96DA85-2FDE-4136-B9F6-AF0965475E5A}"/>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299B0367-ACE7-48B9-82C8-A7BFD1F98E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09A210-6017-4F71-9E78-B2C329B4A7E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5812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E6C5-6752-4963-B842-280808B201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EA6DFC-697D-4605-86C0-8572E022BE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341469-A18C-498E-BACC-28BCBFE904BB}"/>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FAED5D3B-1983-426F-A1AE-7470C43BB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35ABB1-45F2-4FEA-BB5A-3B053892DBC7}"/>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026530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F4AE-F142-401B-A5D1-4A52FF92CA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7C9BD1-2876-4C52-83CF-1CBA9D931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E624D8-76A7-478F-ACA3-5749DEFD0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29A939-0957-4E96-B38D-0B2E39D4137F}"/>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6" name="Footer Placeholder 5">
            <a:extLst>
              <a:ext uri="{FF2B5EF4-FFF2-40B4-BE49-F238E27FC236}">
                <a16:creationId xmlns:a16="http://schemas.microsoft.com/office/drawing/2014/main" id="{C89D44E1-B8BA-490F-B30A-538CC4D48F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84BB79-7CA5-414E-B5B6-6A8E9AEE4A94}"/>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74354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86CE8-8BA4-4FB1-ACAA-E38F8ED7F7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570902-F321-482A-924A-FF9A87CA5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5B6F67-E437-4FE8-851B-B016F33CFE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CE7897-2D17-49F8-8762-68F8D5794F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3AE8E8-43BB-400D-8934-6D6B21D3A5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DB6608-03F3-45EF-80BD-C6E305C07128}"/>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8" name="Footer Placeholder 7">
            <a:extLst>
              <a:ext uri="{FF2B5EF4-FFF2-40B4-BE49-F238E27FC236}">
                <a16:creationId xmlns:a16="http://schemas.microsoft.com/office/drawing/2014/main" id="{E665D75D-3AD4-4D0E-A5BC-9000973FD8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06A546-DC61-467F-A112-3AC0277BB9A8}"/>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71669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8549-E392-4F05-B762-B5370E51C9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1059880-A67D-4A24-9138-E937AE75075F}"/>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4" name="Footer Placeholder 3">
            <a:extLst>
              <a:ext uri="{FF2B5EF4-FFF2-40B4-BE49-F238E27FC236}">
                <a16:creationId xmlns:a16="http://schemas.microsoft.com/office/drawing/2014/main" id="{01BF6EC7-BFAB-4137-9343-C66B7829AB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A6B929-B579-4261-8171-35357AE9A33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33729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BAFEDF-BA35-4A7C-9388-604C048D57D0}"/>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3" name="Footer Placeholder 2">
            <a:extLst>
              <a:ext uri="{FF2B5EF4-FFF2-40B4-BE49-F238E27FC236}">
                <a16:creationId xmlns:a16="http://schemas.microsoft.com/office/drawing/2014/main" id="{11C80271-5700-43CC-A9BA-B2AAB47B21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A712EA-BE6D-4AE5-B09E-215DE5B0EE9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75907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A6235-A416-4C23-BE8E-8FC1CF0EC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A2C36B-7DDF-4371-9F0A-6E5B64554F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3FA19A-E15E-47EA-B9B9-5F7FD0AA0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E84724-CA93-4332-A03F-0909AC5249AD}"/>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6" name="Footer Placeholder 5">
            <a:extLst>
              <a:ext uri="{FF2B5EF4-FFF2-40B4-BE49-F238E27FC236}">
                <a16:creationId xmlns:a16="http://schemas.microsoft.com/office/drawing/2014/main" id="{E403302F-D853-499A-BB91-3BD5366E67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4AD427-BF9D-4A47-AF08-E4983B90C65A}"/>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4041188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1B540-7747-44F5-A3A4-69F051F36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4392B5-0943-4B18-9708-C9FA86F835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7DFA04-BB4C-4DC0-9831-EB32549F5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01BDBD-01E1-44D7-AB93-513FF196A2C4}"/>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6" name="Footer Placeholder 5">
            <a:extLst>
              <a:ext uri="{FF2B5EF4-FFF2-40B4-BE49-F238E27FC236}">
                <a16:creationId xmlns:a16="http://schemas.microsoft.com/office/drawing/2014/main" id="{D87D7BDB-9CCD-44F3-A4FB-D4BAE589BE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BC8D8A-A70C-4D57-8271-DCF5EEFC33AE}"/>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12236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63EB-C66D-4D2D-9928-25D57CFDCD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91A17B-5319-4265-82A2-5D286CFAFD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972F85-7902-4426-947E-3509F7A06CB1}"/>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FD08658F-7DA3-40F3-B6FA-CF740F858E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B0DE9-130B-4DA8-9A0C-06A295C9D82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481950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4594E2-CBC8-4A0C-A110-E3B5A301CF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FBD2EA-CB7C-4CAB-855D-57F7919104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2348B0-3CBB-41FA-A8EC-5DFC833D7ECD}"/>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1A7E08DA-D399-4DC8-89B1-C4EBC64DC9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DA6177-D647-4C5F-BA43-C02A1390F47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814687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634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E67A62-7E64-4BE9-8EDF-4904E871A0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CA73B9-1A82-4479-978C-9C873CC677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977FC6-3D78-48A7-A3DB-BFC7C0EA3E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27CDC877-1137-446E-919A-C66E313317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A258D39-C9B6-4DA9-9C05-38A0ECD4CE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5B04A4-2082-4D7E-8466-9BA22C990A78}" type="slidenum">
              <a:rPr lang="en-IN" smtClean="0"/>
              <a:t>‹#›</a:t>
            </a:fld>
            <a:endParaRPr lang="en-IN"/>
          </a:p>
        </p:txBody>
      </p:sp>
    </p:spTree>
    <p:extLst>
      <p:ext uri="{BB962C8B-B14F-4D97-AF65-F5344CB8AC3E}">
        <p14:creationId xmlns:p14="http://schemas.microsoft.com/office/powerpoint/2010/main" val="3279178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hyperlink" Target="https://github.com/rayyyzer/SYNTRA"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rayyyzer/SYNTRA"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github.com/rayyyzer/SYNTRA"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77240" y="329184"/>
            <a:ext cx="2423160" cy="347472"/>
          </a:xfrm>
          <a:prstGeom prst="roundRect">
            <a:avLst>
              <a:gd name="adj" fmla="val 50000"/>
            </a:avLst>
          </a:prstGeom>
          <a:solidFill>
            <a:srgbClr val="FFFFFF"/>
          </a:solidFill>
          <a:ln w="12700">
            <a:solidFill>
              <a:srgbClr val="D9D3F0"/>
            </a:solidFill>
            <a:prstDash val="solid"/>
          </a:ln>
        </p:spPr>
        <p:txBody>
          <a:bodyPr wrap="square" anchor="t"/>
          <a:lstStyle/>
          <a:p>
            <a:pPr algn="l"/>
            <a:r>
              <a:rPr sz="1100" b="1">
                <a:solidFill>
                  <a:srgbClr val="6D28D9"/>
                </a:solidFill>
                <a:latin typeface="Arial"/>
              </a:rPr>
              <a:t>SAMSUNG PRISM</a:t>
            </a:r>
          </a:p>
        </p:txBody>
      </p:sp>
      <p:sp>
        <p:nvSpPr>
          <p:cNvPr id="3" name="Text 1"/>
          <p:cNvSpPr txBox="1"/>
          <p:nvPr/>
        </p:nvSpPr>
        <p:spPr>
          <a:xfrm>
            <a:off x="777240" y="749808"/>
            <a:ext cx="2423160" cy="438912"/>
          </a:xfrm>
          <a:prstGeom prst="rect">
            <a:avLst/>
          </a:prstGeom>
          <a:noFill/>
          <a:ln/>
        </p:spPr>
        <p:txBody>
          <a:bodyPr wrap="square" lIns="0" tIns="0" rIns="0" bIns="0" rtlCol="0" anchor="t"/>
          <a:lstStyle/>
          <a:p>
            <a:pPr marL="0" indent="0" algn="l">
              <a:buNone/>
            </a:pPr>
            <a:r>
              <a:rPr sz="2400" b="0">
                <a:solidFill>
                  <a:srgbClr val="1E1E2D"/>
                </a:solidFill>
                <a:latin typeface="Arial"/>
              </a:rPr>
              <a:t>Generative AI</a:t>
            </a:r>
            <a:endParaRPr lang="en-US" sz="1100" dirty="0"/>
          </a:p>
        </p:txBody>
      </p:sp>
      <p:sp>
        <p:nvSpPr>
          <p:cNvPr id="4" name="Text 2"/>
          <p:cNvSpPr txBox="1"/>
          <p:nvPr/>
        </p:nvSpPr>
        <p:spPr>
          <a:xfrm>
            <a:off x="777240" y="1225296"/>
            <a:ext cx="6126480" cy="658368"/>
          </a:xfrm>
          <a:prstGeom prst="rect">
            <a:avLst/>
          </a:prstGeom>
          <a:noFill/>
          <a:ln/>
        </p:spPr>
        <p:txBody>
          <a:bodyPr wrap="square" lIns="0" tIns="0" rIns="0" bIns="0" rtlCol="0" anchor="t"/>
          <a:lstStyle/>
          <a:p>
            <a:pPr marL="0" indent="0" algn="l">
              <a:buNone/>
            </a:pPr>
            <a:r>
              <a:rPr sz="3600" b="0">
                <a:solidFill>
                  <a:srgbClr val="6D28D9"/>
                </a:solidFill>
                <a:latin typeface="Arial"/>
              </a:rPr>
              <a:t>Hackathon</a:t>
            </a:r>
            <a:endParaRPr lang="en-US" sz="5000" dirty="0"/>
          </a:p>
        </p:txBody>
      </p:sp>
      <p:sp>
        <p:nvSpPr>
          <p:cNvPr id="5" name="Text 3"/>
          <p:cNvSpPr txBox="1"/>
          <p:nvPr/>
        </p:nvSpPr>
        <p:spPr>
          <a:xfrm>
            <a:off x="777240" y="1901952"/>
            <a:ext cx="6126480" cy="749808"/>
          </a:xfrm>
          <a:prstGeom prst="rect">
            <a:avLst/>
          </a:prstGeom>
          <a:noFill/>
          <a:ln/>
        </p:spPr>
        <p:txBody>
          <a:bodyPr wrap="square" lIns="0" tIns="0" rIns="0" bIns="0" rtlCol="0" anchor="t"/>
          <a:lstStyle/>
          <a:p>
            <a:pPr marL="0" indent="0" algn="l">
              <a:buNone/>
            </a:pPr>
            <a:r>
              <a:rPr sz="2500" b="0">
                <a:solidFill>
                  <a:srgbClr val="14142B"/>
                </a:solidFill>
                <a:latin typeface="Arial"/>
              </a:rPr>
              <a:t>3rd Edition   2026 – 27</a:t>
            </a:r>
            <a:endParaRPr lang="en-US" sz="5000" dirty="0"/>
          </a:p>
        </p:txBody>
      </p:sp>
      <p:pic>
        <p:nvPicPr>
          <p:cNvPr id="14" name="Image 0" descr="hero_network.png"/>
          <p:cNvPicPr>
            <a:picLocks noChangeAspect="1"/>
          </p:cNvPicPr>
          <p:nvPr/>
        </p:nvPicPr>
        <p:blipFill>
          <a:blip r:embed="rId3"/>
          <a:stretch>
            <a:fillRect/>
          </a:stretch>
        </p:blipFill>
        <p:spPr>
          <a:xfrm>
            <a:off x="7059168" y="1051560"/>
            <a:ext cx="4572000" cy="4572000"/>
          </a:xfrm>
          <a:prstGeom prst="rect">
            <a:avLst/>
          </a:prstGeom>
        </p:spPr>
      </p:pic>
      <p:sp>
        <p:nvSpPr>
          <p:cNvPr id="15" name="Rounded Rectangle 14"/>
          <p:cNvSpPr/>
          <p:nvPr/>
        </p:nvSpPr>
        <p:spPr>
          <a:xfrm>
            <a:off x="7955279" y="1143000"/>
            <a:ext cx="2331720" cy="310896"/>
          </a:xfrm>
          <a:prstGeom prst="roundRect">
            <a:avLst/>
          </a:prstGeom>
          <a:solidFill>
            <a:srgbClr val="6D28D9"/>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Arial"/>
              </a:rPr>
              <a:t>SYNTRA  •  GROUNDED AI</a:t>
            </a:r>
          </a:p>
        </p:txBody>
      </p:sp>
      <p:sp>
        <p:nvSpPr>
          <p:cNvPr id="16" name="TextBox 15"/>
          <p:cNvSpPr txBox="1"/>
          <p:nvPr/>
        </p:nvSpPr>
        <p:spPr>
          <a:xfrm>
            <a:off x="8001000" y="1664208"/>
            <a:ext cx="2377440" cy="1005840"/>
          </a:xfrm>
          <a:prstGeom prst="rect">
            <a:avLst/>
          </a:prstGeom>
          <a:noFill/>
        </p:spPr>
        <p:txBody>
          <a:bodyPr wrap="square" anchor="t">
            <a:spAutoFit/>
          </a:bodyPr>
          <a:lstStyle/>
          <a:p>
            <a:pPr algn="l"/>
            <a:r>
              <a:rPr sz="2400" b="1">
                <a:solidFill>
                  <a:srgbClr val="14142B"/>
                </a:solidFill>
                <a:latin typeface="Arial"/>
              </a:rPr>
              <a:t>Intelligent
Device Guidance</a:t>
            </a:r>
          </a:p>
        </p:txBody>
      </p:sp>
      <p:sp>
        <p:nvSpPr>
          <p:cNvPr id="17" name="TextBox 16"/>
          <p:cNvSpPr txBox="1"/>
          <p:nvPr/>
        </p:nvSpPr>
        <p:spPr>
          <a:xfrm>
            <a:off x="8001000" y="2971800"/>
            <a:ext cx="2286000" cy="1005840"/>
          </a:xfrm>
          <a:prstGeom prst="rect">
            <a:avLst/>
          </a:prstGeom>
          <a:noFill/>
        </p:spPr>
        <p:txBody>
          <a:bodyPr wrap="square" anchor="t">
            <a:spAutoFit/>
          </a:bodyPr>
          <a:lstStyle/>
          <a:p>
            <a:pPr algn="l"/>
            <a:r>
              <a:rPr sz="1300" b="0">
                <a:solidFill>
                  <a:srgbClr val="63637E"/>
                </a:solidFill>
                <a:latin typeface="Calibri"/>
              </a:rPr>
              <a:t>AI understands intent.
Deterministic code owns action.</a:t>
            </a:r>
          </a:p>
        </p:txBody>
      </p:sp>
      <p:sp>
        <p:nvSpPr>
          <p:cNvPr id="18" name="TextBox 17"/>
          <p:cNvSpPr txBox="1"/>
          <p:nvPr/>
        </p:nvSpPr>
        <p:spPr>
          <a:xfrm>
            <a:off x="777240" y="2697480"/>
            <a:ext cx="6309360" cy="1598899"/>
          </a:xfrm>
          <a:prstGeom prst="rect">
            <a:avLst/>
          </a:prstGeom>
          <a:noFill/>
        </p:spPr>
        <p:txBody>
          <a:bodyPr wrap="square" lIns="18288" tIns="18288" rIns="18288" bIns="18288">
            <a:spAutoFit/>
          </a:bodyPr>
          <a:lstStyle/>
          <a:p>
            <a:pPr>
              <a:spcAft>
                <a:spcPts val="300"/>
              </a:spcAft>
              <a:defRPr sz="1100" b="0">
                <a:solidFill>
                  <a:srgbClr val="E6E6EB"/>
                </a:solidFill>
                <a:latin typeface="Aptos"/>
              </a:defRPr>
            </a:pPr>
            <a:r>
              <a:rPr sz="1050" dirty="0">
                <a:solidFill>
                  <a:srgbClr val="555569"/>
                </a:solidFill>
              </a:rPr>
              <a:t>Theme ID — Theme 2 — Smart Guided Troubleshooting Engine</a:t>
            </a:r>
          </a:p>
          <a:p>
            <a:pPr>
              <a:spcAft>
                <a:spcPts val="300"/>
              </a:spcAft>
              <a:defRPr sz="1100" b="0">
                <a:solidFill>
                  <a:srgbClr val="E6E6EB"/>
                </a:solidFill>
                <a:latin typeface="Aptos"/>
              </a:defRPr>
            </a:pPr>
            <a:r>
              <a:rPr sz="1050" dirty="0">
                <a:solidFill>
                  <a:srgbClr val="555569"/>
                </a:solidFill>
              </a:rPr>
              <a:t>Project — SYNTRA — Intelligent Device Guidance</a:t>
            </a:r>
          </a:p>
          <a:p>
            <a:pPr>
              <a:spcAft>
                <a:spcPts val="300"/>
              </a:spcAft>
              <a:defRPr sz="1050" b="0">
                <a:solidFill>
                  <a:srgbClr val="E6E6EB"/>
                </a:solidFill>
                <a:latin typeface="Aptos"/>
              </a:defRPr>
            </a:pPr>
            <a:r>
              <a:rPr sz="1050" dirty="0">
                <a:solidFill>
                  <a:srgbClr val="555569"/>
                </a:solidFill>
              </a:rPr>
              <a:t>Team — Trust Me It Works</a:t>
            </a:r>
          </a:p>
          <a:p>
            <a:pPr>
              <a:spcAft>
                <a:spcPts val="300"/>
              </a:spcAft>
              <a:defRPr sz="1050" b="0">
                <a:solidFill>
                  <a:srgbClr val="E6E6EB"/>
                </a:solidFill>
                <a:latin typeface="Aptos"/>
              </a:defRPr>
            </a:pPr>
            <a:r>
              <a:rPr sz="1050" dirty="0">
                <a:solidFill>
                  <a:srgbClr val="555569"/>
                </a:solidFill>
              </a:rPr>
              <a:t>College — </a:t>
            </a:r>
            <a:r>
              <a:rPr lang="en-IN" sz="1050" dirty="0">
                <a:solidFill>
                  <a:srgbClr val="555569"/>
                </a:solidFill>
              </a:rPr>
              <a:t>SRMIST</a:t>
            </a:r>
            <a:endParaRPr sz="1050" dirty="0">
              <a:solidFill>
                <a:srgbClr val="555569"/>
              </a:solidFill>
            </a:endParaRPr>
          </a:p>
          <a:p>
            <a:pPr>
              <a:spcAft>
                <a:spcPts val="300"/>
              </a:spcAft>
              <a:defRPr sz="1050" b="0">
                <a:solidFill>
                  <a:srgbClr val="E6E6EB"/>
                </a:solidFill>
                <a:latin typeface="Aptos"/>
              </a:defRPr>
            </a:pPr>
            <a:r>
              <a:rPr sz="1050" dirty="0">
                <a:solidFill>
                  <a:srgbClr val="555569"/>
                </a:solidFill>
              </a:rPr>
              <a:t>Member 1 — Muhammad Rayhan — farayhim@gmail.com</a:t>
            </a:r>
          </a:p>
          <a:p>
            <a:pPr>
              <a:spcAft>
                <a:spcPts val="300"/>
              </a:spcAft>
              <a:defRPr sz="1050" b="0">
                <a:solidFill>
                  <a:srgbClr val="E6E6EB"/>
                </a:solidFill>
                <a:latin typeface="Aptos"/>
              </a:defRPr>
            </a:pPr>
            <a:r>
              <a:rPr sz="1050" dirty="0">
                <a:solidFill>
                  <a:srgbClr val="555569"/>
                </a:solidFill>
              </a:rPr>
              <a:t>Member 2 — Charan Kotta — charankotta32@gmail.com</a:t>
            </a:r>
          </a:p>
          <a:p>
            <a:pPr>
              <a:spcAft>
                <a:spcPts val="300"/>
              </a:spcAft>
              <a:defRPr sz="1050" b="0">
                <a:solidFill>
                  <a:srgbClr val="E6E6EB"/>
                </a:solidFill>
                <a:latin typeface="Aptos"/>
              </a:defRPr>
            </a:pPr>
            <a:r>
              <a:rPr sz="1050" dirty="0">
                <a:solidFill>
                  <a:srgbClr val="555569"/>
                </a:solidFill>
              </a:rPr>
              <a:t>Member 3 — Rajit Gupta —</a:t>
            </a:r>
            <a:r>
              <a:rPr lang="en-IN" sz="1050" dirty="0">
                <a:solidFill>
                  <a:srgbClr val="555569"/>
                </a:solidFill>
              </a:rPr>
              <a:t>rajitgupta2007@gmail.com</a:t>
            </a:r>
          </a:p>
          <a:p>
            <a:pPr>
              <a:spcAft>
                <a:spcPts val="300"/>
              </a:spcAft>
              <a:defRPr sz="1050" b="0">
                <a:solidFill>
                  <a:srgbClr val="E6E6EB"/>
                </a:solidFill>
                <a:latin typeface="Aptos"/>
              </a:defRPr>
            </a:pPr>
            <a:r>
              <a:rPr sz="1050" dirty="0">
                <a:solidFill>
                  <a:srgbClr val="555569"/>
                </a:solidFill>
                <a:hlinkClick r:id="rId4"/>
              </a:rPr>
              <a:t>GitHub — github.com/</a:t>
            </a:r>
            <a:r>
              <a:rPr sz="1050" dirty="0" err="1">
                <a:solidFill>
                  <a:srgbClr val="555569"/>
                </a:solidFill>
                <a:hlinkClick r:id="rId4"/>
              </a:rPr>
              <a:t>rayyyzer</a:t>
            </a:r>
            <a:r>
              <a:rPr sz="1050" dirty="0">
                <a:solidFill>
                  <a:srgbClr val="555569"/>
                </a:solidFill>
                <a:hlinkClick r:id="rId4"/>
              </a:rPr>
              <a:t>/SYNTRA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wrap="square" anchor="t">
            <a:normAutofit/>
          </a:bodyPr>
          <a:lstStyle/>
          <a:p>
            <a:pPr algn="l"/>
            <a:r>
              <a:rPr sz="2800" b="1">
                <a:solidFill>
                  <a:srgbClr val="704EA6"/>
                </a:solidFill>
                <a:latin typeface="Arial"/>
              </a:rPr>
              <a:t>Theme / Existing Solutions &amp; Gaps</a:t>
            </a:r>
          </a:p>
        </p:txBody>
      </p:sp>
      <p:sp>
        <p:nvSpPr>
          <p:cNvPr id="4" name="Rounded Rectangle 3"/>
          <p:cNvSpPr/>
          <p:nvPr/>
        </p:nvSpPr>
        <p:spPr>
          <a:xfrm>
            <a:off x="868680" y="1572768"/>
            <a:ext cx="2926080" cy="310896"/>
          </a:xfrm>
          <a:prstGeom prst="roundRect">
            <a:avLst/>
          </a:prstGeom>
          <a:solidFill>
            <a:srgbClr val="6D28D9"/>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Arial"/>
              </a:rPr>
              <a:t>THEME 2 — SMART GUIDED TROUBLESHOOTING ENGINE</a:t>
            </a:r>
          </a:p>
        </p:txBody>
      </p:sp>
      <p:sp>
        <p:nvSpPr>
          <p:cNvPr id="5" name="TextBox 4"/>
          <p:cNvSpPr txBox="1"/>
          <p:nvPr/>
        </p:nvSpPr>
        <p:spPr>
          <a:xfrm>
            <a:off x="896112" y="2011680"/>
            <a:ext cx="4892040" cy="685800"/>
          </a:xfrm>
          <a:prstGeom prst="rect">
            <a:avLst/>
          </a:prstGeom>
          <a:noFill/>
        </p:spPr>
        <p:txBody>
          <a:bodyPr wrap="square" anchor="t">
            <a:spAutoFit/>
          </a:bodyPr>
          <a:lstStyle/>
          <a:p>
            <a:pPr algn="l"/>
            <a:r>
              <a:rPr sz="2200" b="1">
                <a:solidFill>
                  <a:srgbClr val="14142B"/>
                </a:solidFill>
                <a:latin typeface="Arial"/>
              </a:rPr>
              <a:t>The gap</a:t>
            </a:r>
          </a:p>
        </p:txBody>
      </p:sp>
      <p:sp>
        <p:nvSpPr>
          <p:cNvPr id="6" name="TextBox 5"/>
          <p:cNvSpPr txBox="1"/>
          <p:nvPr/>
        </p:nvSpPr>
        <p:spPr>
          <a:xfrm>
            <a:off x="896112" y="2606040"/>
            <a:ext cx="4892040" cy="2240280"/>
          </a:xfrm>
          <a:prstGeom prst="rect">
            <a:avLst/>
          </a:prstGeom>
          <a:noFill/>
        </p:spPr>
        <p:txBody>
          <a:bodyPr wrap="square" anchor="t">
            <a:spAutoFit/>
          </a:bodyPr>
          <a:lstStyle/>
          <a:p>
            <a:pPr algn="l"/>
            <a:r>
              <a:rPr sz="1700" b="0">
                <a:solidFill>
                  <a:srgbClr val="63637E"/>
                </a:solidFill>
                <a:latin typeface="Calibri"/>
              </a:rPr>
              <a:t>Users describe Samsung device problems in everyday language — not exact setting names. A useful system must understand paraphrases, enable/disable polarity and related settings, while avoiding unsupported actions.</a:t>
            </a:r>
          </a:p>
        </p:txBody>
      </p:sp>
      <p:sp>
        <p:nvSpPr>
          <p:cNvPr id="7" name="Rounded Rectangle 6"/>
          <p:cNvSpPr/>
          <p:nvPr/>
        </p:nvSpPr>
        <p:spPr>
          <a:xfrm>
            <a:off x="6172200" y="1920240"/>
            <a:ext cx="4572000" cy="2880360"/>
          </a:xfrm>
          <a:prstGeom prst="roundRect">
            <a:avLst/>
          </a:prstGeom>
          <a:solidFill>
            <a:srgbClr val="F5F2FC"/>
          </a:solidFill>
          <a:ln w="12700">
            <a:solidFill>
              <a:srgbClr val="F5F2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0" y="2176272"/>
            <a:ext cx="4069080" cy="320040"/>
          </a:xfrm>
          <a:prstGeom prst="rect">
            <a:avLst/>
          </a:prstGeom>
          <a:noFill/>
        </p:spPr>
        <p:txBody>
          <a:bodyPr wrap="square" anchor="t">
            <a:spAutoFit/>
          </a:bodyPr>
          <a:lstStyle/>
          <a:p>
            <a:pPr algn="l"/>
            <a:r>
              <a:rPr sz="1700" b="1">
                <a:solidFill>
                  <a:srgbClr val="14142B"/>
                </a:solidFill>
                <a:latin typeface="Arial"/>
              </a:rPr>
              <a:t>Why a free-form LLM is insufficient</a:t>
            </a:r>
          </a:p>
        </p:txBody>
      </p:sp>
      <p:sp>
        <p:nvSpPr>
          <p:cNvPr id="9" name="TextBox 8"/>
          <p:cNvSpPr txBox="1"/>
          <p:nvPr/>
        </p:nvSpPr>
        <p:spPr>
          <a:xfrm>
            <a:off x="6400800" y="2670048"/>
            <a:ext cx="3977639" cy="1828800"/>
          </a:xfrm>
          <a:prstGeom prst="rect">
            <a:avLst/>
          </a:prstGeom>
          <a:noFill/>
        </p:spPr>
        <p:txBody>
          <a:bodyPr wrap="square">
            <a:spAutoFit/>
          </a:bodyPr>
          <a:lstStyle/>
          <a:p>
            <a:pPr>
              <a:spcAft>
                <a:spcPts val="800"/>
              </a:spcAft>
              <a:defRPr sz="1500">
                <a:solidFill>
                  <a:srgbClr val="63637E"/>
                </a:solidFill>
                <a:latin typeface="Calibri"/>
              </a:defRPr>
            </a:pPr>
            <a:r>
              <a:t>• May hallucinate troubleshooting steps</a:t>
            </a:r>
          </a:p>
          <a:p>
            <a:pPr>
              <a:spcAft>
                <a:spcPts val="800"/>
              </a:spcAft>
              <a:defRPr sz="1500">
                <a:solidFill>
                  <a:srgbClr val="63637E"/>
                </a:solidFill>
                <a:latin typeface="Calibri"/>
              </a:defRPr>
            </a:pPr>
            <a:r>
              <a:t>• Can invent unsupported actions or deeplinks</a:t>
            </a:r>
          </a:p>
          <a:p>
            <a:pPr>
              <a:spcAft>
                <a:spcPts val="800"/>
              </a:spcAft>
              <a:defRPr sz="1500">
                <a:solidFill>
                  <a:srgbClr val="63637E"/>
                </a:solidFill>
                <a:latin typeface="Calibri"/>
              </a:defRPr>
            </a:pPr>
            <a:r>
              <a:t>• Can confuse similar settings</a:t>
            </a:r>
          </a:p>
          <a:p>
            <a:pPr>
              <a:spcAft>
                <a:spcPts val="800"/>
              </a:spcAft>
              <a:defRPr sz="1500">
                <a:solidFill>
                  <a:srgbClr val="63637E"/>
                </a:solidFill>
                <a:latin typeface="Calibri"/>
              </a:defRPr>
            </a:pPr>
            <a:r>
              <a:t>• Can mishandle ON vs OFF intent</a:t>
            </a:r>
          </a:p>
        </p:txBody>
      </p:sp>
      <p:sp>
        <p:nvSpPr>
          <p:cNvPr id="10" name="Rounded Rectangle 9"/>
          <p:cNvSpPr/>
          <p:nvPr/>
        </p:nvSpPr>
        <p:spPr>
          <a:xfrm>
            <a:off x="896112" y="5166360"/>
            <a:ext cx="2057400" cy="310896"/>
          </a:xfrm>
          <a:prstGeom prst="roundRect">
            <a:avLst/>
          </a:prstGeom>
          <a:solidFill>
            <a:srgbClr val="6D28D9"/>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Arial"/>
              </a:rPr>
              <a:t>DESIGN PRINCIPLE</a:t>
            </a:r>
          </a:p>
        </p:txBody>
      </p:sp>
      <p:sp>
        <p:nvSpPr>
          <p:cNvPr id="11" name="TextBox 10"/>
          <p:cNvSpPr txBox="1"/>
          <p:nvPr/>
        </p:nvSpPr>
        <p:spPr>
          <a:xfrm>
            <a:off x="3127248" y="5138928"/>
            <a:ext cx="7543800" cy="502920"/>
          </a:xfrm>
          <a:prstGeom prst="rect">
            <a:avLst/>
          </a:prstGeom>
          <a:noFill/>
        </p:spPr>
        <p:txBody>
          <a:bodyPr wrap="square" anchor="t">
            <a:spAutoFit/>
          </a:bodyPr>
          <a:lstStyle/>
          <a:p>
            <a:pPr algn="l"/>
            <a:r>
              <a:rPr sz="1500" b="1">
                <a:solidFill>
                  <a:srgbClr val="14142B"/>
                </a:solidFill>
                <a:latin typeface="Calibri"/>
              </a:rPr>
              <a:t>Samsung SIIS remains the source of truth; the supplied deeplink catalog remains authoritative.</a:t>
            </a:r>
          </a:p>
        </p:txBody>
      </p:sp>
      <p:sp>
        <p:nvSpPr>
          <p:cNvPr id="12" name="TextBox 11"/>
          <p:cNvSpPr txBox="1"/>
          <p:nvPr/>
        </p:nvSpPr>
        <p:spPr>
          <a:xfrm>
            <a:off x="10927080" y="6080760"/>
            <a:ext cx="411480" cy="228600"/>
          </a:xfrm>
          <a:prstGeom prst="rect">
            <a:avLst/>
          </a:prstGeom>
          <a:noFill/>
        </p:spPr>
        <p:txBody>
          <a:bodyPr wrap="square" anchor="t">
            <a:spAutoFit/>
          </a:bodyPr>
          <a:lstStyle/>
          <a:p>
            <a:pPr algn="r"/>
            <a:r>
              <a:rPr sz="900" b="0">
                <a:solidFill>
                  <a:srgbClr val="63637E"/>
                </a:solidFill>
                <a:latin typeface="Arial"/>
              </a:rPr>
              <a:t>2</a:t>
            </a:r>
          </a:p>
        </p:txBody>
      </p:sp>
    </p:spTree>
    <p:extLst>
      <p:ext uri="{BB962C8B-B14F-4D97-AF65-F5344CB8AC3E}">
        <p14:creationId xmlns:p14="http://schemas.microsoft.com/office/powerpoint/2010/main" val="256478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wrap="square" anchor="t">
            <a:normAutofit/>
          </a:bodyPr>
          <a:lstStyle/>
          <a:p>
            <a:pPr algn="l"/>
            <a:r>
              <a:rPr sz="2800" b="1">
                <a:solidFill>
                  <a:srgbClr val="704EA6"/>
                </a:solidFill>
                <a:latin typeface="Arial"/>
              </a:rPr>
              <a:t>Our Solution &amp; Architecture Diagram</a:t>
            </a:r>
          </a:p>
        </p:txBody>
      </p:sp>
      <p:sp>
        <p:nvSpPr>
          <p:cNvPr id="4" name="TextBox 3"/>
          <p:cNvSpPr txBox="1"/>
          <p:nvPr/>
        </p:nvSpPr>
        <p:spPr>
          <a:xfrm>
            <a:off x="896112" y="1572768"/>
            <a:ext cx="10241280" cy="457200"/>
          </a:xfrm>
          <a:prstGeom prst="rect">
            <a:avLst/>
          </a:prstGeom>
          <a:noFill/>
        </p:spPr>
        <p:txBody>
          <a:bodyPr wrap="square" anchor="t">
            <a:spAutoFit/>
          </a:bodyPr>
          <a:lstStyle/>
          <a:p>
            <a:pPr algn="l"/>
            <a:r>
              <a:rPr sz="1900" b="1" dirty="0">
                <a:solidFill>
                  <a:srgbClr val="14142B"/>
                </a:solidFill>
                <a:latin typeface="Arial"/>
              </a:rPr>
              <a:t>SYNTRA separates semantic understanding from action authority.</a:t>
            </a:r>
          </a:p>
        </p:txBody>
      </p:sp>
      <p:sp>
        <p:nvSpPr>
          <p:cNvPr id="5" name="Rounded Rectangle 4"/>
          <p:cNvSpPr/>
          <p:nvPr/>
        </p:nvSpPr>
        <p:spPr>
          <a:xfrm>
            <a:off x="777240" y="2331720"/>
            <a:ext cx="1600200" cy="1325880"/>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23544" y="2441448"/>
            <a:ext cx="1307592" cy="477054"/>
          </a:xfrm>
          <a:prstGeom prst="rect">
            <a:avLst/>
          </a:prstGeom>
          <a:noFill/>
        </p:spPr>
        <p:txBody>
          <a:bodyPr wrap="square" anchor="t">
            <a:spAutoFit/>
          </a:bodyPr>
          <a:lstStyle/>
          <a:p>
            <a:pPr algn="l"/>
            <a:r>
              <a:rPr sz="1300" b="1" dirty="0">
                <a:solidFill>
                  <a:srgbClr val="6D28D9"/>
                </a:solidFill>
                <a:latin typeface="Arial"/>
              </a:rPr>
              <a:t>1  </a:t>
            </a:r>
            <a:r>
              <a:rPr sz="1200" b="1" dirty="0">
                <a:solidFill>
                  <a:srgbClr val="6D28D9"/>
                </a:solidFill>
                <a:latin typeface="Arial"/>
              </a:rPr>
              <a:t>UNDERSTAND</a:t>
            </a:r>
          </a:p>
        </p:txBody>
      </p:sp>
      <p:sp>
        <p:nvSpPr>
          <p:cNvPr id="7" name="TextBox 6"/>
          <p:cNvSpPr txBox="1"/>
          <p:nvPr/>
        </p:nvSpPr>
        <p:spPr>
          <a:xfrm>
            <a:off x="923544" y="3010060"/>
            <a:ext cx="1307592" cy="795528"/>
          </a:xfrm>
          <a:prstGeom prst="rect">
            <a:avLst/>
          </a:prstGeom>
          <a:noFill/>
        </p:spPr>
        <p:txBody>
          <a:bodyPr wrap="square" anchor="t">
            <a:spAutoFit/>
          </a:bodyPr>
          <a:lstStyle/>
          <a:p>
            <a:pPr algn="l"/>
            <a:r>
              <a:rPr sz="1100" b="0">
                <a:solidFill>
                  <a:srgbClr val="63637E"/>
                </a:solidFill>
                <a:latin typeface="Calibri"/>
              </a:rPr>
              <a:t>Intent + polarity</a:t>
            </a:r>
          </a:p>
        </p:txBody>
      </p:sp>
      <p:cxnSp>
        <p:nvCxnSpPr>
          <p:cNvPr id="8" name="Connector 7"/>
          <p:cNvCxnSpPr/>
          <p:nvPr/>
        </p:nvCxnSpPr>
        <p:spPr>
          <a:xfrm>
            <a:off x="2377440" y="2999232"/>
            <a:ext cx="155448" cy="0"/>
          </a:xfrm>
          <a:prstGeom prst="line">
            <a:avLst/>
          </a:prstGeom>
          <a:ln w="27940">
            <a:solidFill>
              <a:srgbClr val="6D28D9"/>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587752" y="2331720"/>
            <a:ext cx="1600200" cy="1325880"/>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34056" y="2441448"/>
            <a:ext cx="1307592" cy="274320"/>
          </a:xfrm>
          <a:prstGeom prst="rect">
            <a:avLst/>
          </a:prstGeom>
          <a:noFill/>
        </p:spPr>
        <p:txBody>
          <a:bodyPr wrap="square" anchor="t">
            <a:spAutoFit/>
          </a:bodyPr>
          <a:lstStyle/>
          <a:p>
            <a:pPr algn="l"/>
            <a:r>
              <a:rPr sz="1300" b="1">
                <a:solidFill>
                  <a:srgbClr val="704EA6"/>
                </a:solidFill>
                <a:latin typeface="Arial"/>
              </a:rPr>
              <a:t>2  GROUND</a:t>
            </a:r>
          </a:p>
        </p:txBody>
      </p:sp>
      <p:sp>
        <p:nvSpPr>
          <p:cNvPr id="11" name="TextBox 10"/>
          <p:cNvSpPr txBox="1"/>
          <p:nvPr/>
        </p:nvSpPr>
        <p:spPr>
          <a:xfrm>
            <a:off x="2734056" y="2770632"/>
            <a:ext cx="1307592" cy="795528"/>
          </a:xfrm>
          <a:prstGeom prst="rect">
            <a:avLst/>
          </a:prstGeom>
          <a:noFill/>
        </p:spPr>
        <p:txBody>
          <a:bodyPr wrap="square" anchor="t">
            <a:spAutoFit/>
          </a:bodyPr>
          <a:lstStyle/>
          <a:p>
            <a:pPr algn="l"/>
            <a:r>
              <a:rPr sz="1100" b="0">
                <a:solidFill>
                  <a:srgbClr val="63637E"/>
                </a:solidFill>
                <a:latin typeface="Calibri"/>
              </a:rPr>
              <a:t>Samsung SIIS</a:t>
            </a:r>
          </a:p>
        </p:txBody>
      </p:sp>
      <p:cxnSp>
        <p:nvCxnSpPr>
          <p:cNvPr id="12" name="Connector 11"/>
          <p:cNvCxnSpPr/>
          <p:nvPr/>
        </p:nvCxnSpPr>
        <p:spPr>
          <a:xfrm>
            <a:off x="4187952" y="2999232"/>
            <a:ext cx="155448" cy="0"/>
          </a:xfrm>
          <a:prstGeom prst="line">
            <a:avLst/>
          </a:prstGeom>
          <a:ln w="27940">
            <a:solidFill>
              <a:srgbClr val="6D28D9"/>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398264" y="2331720"/>
            <a:ext cx="1600200" cy="1325880"/>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44568" y="2441448"/>
            <a:ext cx="1307592" cy="274320"/>
          </a:xfrm>
          <a:prstGeom prst="rect">
            <a:avLst/>
          </a:prstGeom>
          <a:noFill/>
        </p:spPr>
        <p:txBody>
          <a:bodyPr wrap="square" anchor="t">
            <a:spAutoFit/>
          </a:bodyPr>
          <a:lstStyle/>
          <a:p>
            <a:pPr algn="l"/>
            <a:r>
              <a:rPr sz="1300" b="1">
                <a:solidFill>
                  <a:srgbClr val="704EA6"/>
                </a:solidFill>
                <a:latin typeface="Arial"/>
              </a:rPr>
              <a:t>3  RETRIEVE</a:t>
            </a:r>
          </a:p>
        </p:txBody>
      </p:sp>
      <p:sp>
        <p:nvSpPr>
          <p:cNvPr id="15" name="TextBox 14"/>
          <p:cNvSpPr txBox="1"/>
          <p:nvPr/>
        </p:nvSpPr>
        <p:spPr>
          <a:xfrm>
            <a:off x="4544568" y="2770632"/>
            <a:ext cx="1307592" cy="795528"/>
          </a:xfrm>
          <a:prstGeom prst="rect">
            <a:avLst/>
          </a:prstGeom>
          <a:noFill/>
        </p:spPr>
        <p:txBody>
          <a:bodyPr wrap="square" anchor="t">
            <a:spAutoFit/>
          </a:bodyPr>
          <a:lstStyle/>
          <a:p>
            <a:pPr algn="l"/>
            <a:r>
              <a:rPr sz="1100" b="0">
                <a:solidFill>
                  <a:srgbClr val="63637E"/>
                </a:solidFill>
                <a:latin typeface="Calibri"/>
              </a:rPr>
              <a:t>BM25 + dense</a:t>
            </a:r>
          </a:p>
        </p:txBody>
      </p:sp>
      <p:cxnSp>
        <p:nvCxnSpPr>
          <p:cNvPr id="16" name="Connector 15"/>
          <p:cNvCxnSpPr/>
          <p:nvPr/>
        </p:nvCxnSpPr>
        <p:spPr>
          <a:xfrm>
            <a:off x="5998464" y="2999232"/>
            <a:ext cx="155448" cy="0"/>
          </a:xfrm>
          <a:prstGeom prst="line">
            <a:avLst/>
          </a:prstGeom>
          <a:ln w="27940">
            <a:solidFill>
              <a:srgbClr val="6D28D9"/>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208776" y="2331720"/>
            <a:ext cx="1600200" cy="1325880"/>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55080" y="2441448"/>
            <a:ext cx="1307592" cy="274320"/>
          </a:xfrm>
          <a:prstGeom prst="rect">
            <a:avLst/>
          </a:prstGeom>
          <a:noFill/>
        </p:spPr>
        <p:txBody>
          <a:bodyPr wrap="square" anchor="t">
            <a:spAutoFit/>
          </a:bodyPr>
          <a:lstStyle/>
          <a:p>
            <a:pPr algn="l"/>
            <a:r>
              <a:rPr sz="1300" b="1">
                <a:solidFill>
                  <a:srgbClr val="6D28D9"/>
                </a:solidFill>
                <a:latin typeface="Arial"/>
              </a:rPr>
              <a:t>4  SELECT</a:t>
            </a:r>
          </a:p>
        </p:txBody>
      </p:sp>
      <p:sp>
        <p:nvSpPr>
          <p:cNvPr id="19" name="TextBox 18"/>
          <p:cNvSpPr txBox="1"/>
          <p:nvPr/>
        </p:nvSpPr>
        <p:spPr>
          <a:xfrm>
            <a:off x="6355080" y="2770632"/>
            <a:ext cx="1307592" cy="795528"/>
          </a:xfrm>
          <a:prstGeom prst="rect">
            <a:avLst/>
          </a:prstGeom>
          <a:noFill/>
        </p:spPr>
        <p:txBody>
          <a:bodyPr wrap="square" anchor="t">
            <a:spAutoFit/>
          </a:bodyPr>
          <a:lstStyle/>
          <a:p>
            <a:pPr algn="l"/>
            <a:r>
              <a:rPr sz="1100" b="0">
                <a:solidFill>
                  <a:srgbClr val="63637E"/>
                </a:solidFill>
                <a:latin typeface="Calibri"/>
              </a:rPr>
              <a:t>Ranking + targeted Gemini</a:t>
            </a:r>
          </a:p>
        </p:txBody>
      </p:sp>
      <p:cxnSp>
        <p:nvCxnSpPr>
          <p:cNvPr id="20" name="Connector 19"/>
          <p:cNvCxnSpPr/>
          <p:nvPr/>
        </p:nvCxnSpPr>
        <p:spPr>
          <a:xfrm>
            <a:off x="7808976" y="2999232"/>
            <a:ext cx="155448" cy="0"/>
          </a:xfrm>
          <a:prstGeom prst="line">
            <a:avLst/>
          </a:prstGeom>
          <a:ln w="27940">
            <a:solidFill>
              <a:srgbClr val="6D28D9"/>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019288" y="2331720"/>
            <a:ext cx="1600200" cy="1325880"/>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165592" y="2441448"/>
            <a:ext cx="1307592" cy="274320"/>
          </a:xfrm>
          <a:prstGeom prst="rect">
            <a:avLst/>
          </a:prstGeom>
          <a:noFill/>
        </p:spPr>
        <p:txBody>
          <a:bodyPr wrap="square" anchor="t">
            <a:spAutoFit/>
          </a:bodyPr>
          <a:lstStyle/>
          <a:p>
            <a:pPr algn="l"/>
            <a:r>
              <a:rPr sz="1300" b="1">
                <a:solidFill>
                  <a:srgbClr val="704EA6"/>
                </a:solidFill>
                <a:latin typeface="Arial"/>
              </a:rPr>
              <a:t>5  VERIFY</a:t>
            </a:r>
          </a:p>
        </p:txBody>
      </p:sp>
      <p:sp>
        <p:nvSpPr>
          <p:cNvPr id="23" name="TextBox 22"/>
          <p:cNvSpPr txBox="1"/>
          <p:nvPr/>
        </p:nvSpPr>
        <p:spPr>
          <a:xfrm>
            <a:off x="8165592" y="2770632"/>
            <a:ext cx="1307592" cy="795528"/>
          </a:xfrm>
          <a:prstGeom prst="rect">
            <a:avLst/>
          </a:prstGeom>
          <a:noFill/>
        </p:spPr>
        <p:txBody>
          <a:bodyPr wrap="square" anchor="t">
            <a:spAutoFit/>
          </a:bodyPr>
          <a:lstStyle/>
          <a:p>
            <a:pPr algn="l"/>
            <a:r>
              <a:rPr sz="1100" b="0">
                <a:solidFill>
                  <a:srgbClr val="63637E"/>
                </a:solidFill>
                <a:latin typeface="Calibri"/>
              </a:rPr>
              <a:t>Catalog + schema + safety</a:t>
            </a:r>
          </a:p>
        </p:txBody>
      </p:sp>
      <p:cxnSp>
        <p:nvCxnSpPr>
          <p:cNvPr id="24" name="Connector 23"/>
          <p:cNvCxnSpPr/>
          <p:nvPr/>
        </p:nvCxnSpPr>
        <p:spPr>
          <a:xfrm>
            <a:off x="9619488" y="2999232"/>
            <a:ext cx="155448" cy="0"/>
          </a:xfrm>
          <a:prstGeom prst="line">
            <a:avLst/>
          </a:prstGeom>
          <a:ln w="27940">
            <a:solidFill>
              <a:srgbClr val="6D28D9"/>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829800" y="2331720"/>
            <a:ext cx="1600200" cy="1325880"/>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976104" y="2441448"/>
            <a:ext cx="1307592" cy="274320"/>
          </a:xfrm>
          <a:prstGeom prst="rect">
            <a:avLst/>
          </a:prstGeom>
          <a:noFill/>
        </p:spPr>
        <p:txBody>
          <a:bodyPr wrap="square" anchor="t">
            <a:spAutoFit/>
          </a:bodyPr>
          <a:lstStyle/>
          <a:p>
            <a:pPr algn="l"/>
            <a:r>
              <a:rPr sz="1300" b="1">
                <a:solidFill>
                  <a:srgbClr val="704EA6"/>
                </a:solidFill>
                <a:latin typeface="Arial"/>
              </a:rPr>
              <a:t>6  OUTPUT</a:t>
            </a:r>
          </a:p>
        </p:txBody>
      </p:sp>
      <p:sp>
        <p:nvSpPr>
          <p:cNvPr id="27" name="TextBox 26"/>
          <p:cNvSpPr txBox="1"/>
          <p:nvPr/>
        </p:nvSpPr>
        <p:spPr>
          <a:xfrm>
            <a:off x="9976104" y="2770632"/>
            <a:ext cx="1307592" cy="795528"/>
          </a:xfrm>
          <a:prstGeom prst="rect">
            <a:avLst/>
          </a:prstGeom>
          <a:noFill/>
        </p:spPr>
        <p:txBody>
          <a:bodyPr wrap="square" anchor="t">
            <a:spAutoFit/>
          </a:bodyPr>
          <a:lstStyle/>
          <a:p>
            <a:pPr algn="l"/>
            <a:r>
              <a:rPr sz="1100" b="0">
                <a:solidFill>
                  <a:srgbClr val="63637E"/>
                </a:solidFill>
                <a:latin typeface="Calibri"/>
              </a:rPr>
              <a:t>ContextDeeplinkResponse</a:t>
            </a:r>
          </a:p>
        </p:txBody>
      </p:sp>
      <p:sp>
        <p:nvSpPr>
          <p:cNvPr id="28" name="Rounded Rectangle 27"/>
          <p:cNvSpPr/>
          <p:nvPr/>
        </p:nvSpPr>
        <p:spPr>
          <a:xfrm>
            <a:off x="960120" y="4160520"/>
            <a:ext cx="9646920" cy="1143000"/>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188720" y="4370832"/>
            <a:ext cx="1828800" cy="320040"/>
          </a:xfrm>
          <a:prstGeom prst="rect">
            <a:avLst/>
          </a:prstGeom>
          <a:noFill/>
        </p:spPr>
        <p:txBody>
          <a:bodyPr wrap="square" anchor="t">
            <a:spAutoFit/>
          </a:bodyPr>
          <a:lstStyle/>
          <a:p>
            <a:pPr algn="l"/>
            <a:r>
              <a:rPr sz="1200" b="1">
                <a:solidFill>
                  <a:srgbClr val="6D28D9"/>
                </a:solidFill>
                <a:latin typeface="Arial"/>
              </a:rPr>
              <a:t>AUTHORITY BOUNDARY</a:t>
            </a:r>
          </a:p>
        </p:txBody>
      </p:sp>
      <p:sp>
        <p:nvSpPr>
          <p:cNvPr id="30" name="TextBox 29"/>
          <p:cNvSpPr txBox="1"/>
          <p:nvPr/>
        </p:nvSpPr>
        <p:spPr>
          <a:xfrm>
            <a:off x="2880360" y="4270248"/>
            <a:ext cx="7360920" cy="640080"/>
          </a:xfrm>
          <a:prstGeom prst="rect">
            <a:avLst/>
          </a:prstGeom>
          <a:noFill/>
        </p:spPr>
        <p:txBody>
          <a:bodyPr wrap="square" anchor="t">
            <a:spAutoFit/>
          </a:bodyPr>
          <a:lstStyle/>
          <a:p>
            <a:pPr algn="l"/>
            <a:r>
              <a:rPr sz="1500" b="1">
                <a:solidFill>
                  <a:srgbClr val="14142B"/>
                </a:solidFill>
                <a:latin typeface="Calibri"/>
              </a:rPr>
              <a:t>Gemini chooses meaning from opaque candidate IDs → Python resolves the exact known catalog URI → deterministic validation.</a:t>
            </a:r>
          </a:p>
        </p:txBody>
      </p:sp>
      <p:sp>
        <p:nvSpPr>
          <p:cNvPr id="31" name="TextBox 30"/>
          <p:cNvSpPr txBox="1"/>
          <p:nvPr/>
        </p:nvSpPr>
        <p:spPr>
          <a:xfrm>
            <a:off x="960120" y="5596128"/>
            <a:ext cx="9692640" cy="384048"/>
          </a:xfrm>
          <a:prstGeom prst="rect">
            <a:avLst/>
          </a:prstGeom>
          <a:noFill/>
        </p:spPr>
        <p:txBody>
          <a:bodyPr wrap="square" anchor="t">
            <a:spAutoFit/>
          </a:bodyPr>
          <a:lstStyle/>
          <a:p>
            <a:pPr algn="ctr"/>
            <a:r>
              <a:rPr sz="1200" b="0">
                <a:solidFill>
                  <a:srgbClr val="63637E"/>
                </a:solidFill>
                <a:latin typeface="Calibri"/>
              </a:rPr>
              <a:t>578 catalog entries  •  no generated Samsung deeplinks  •  unsupported actions are not fabricated</a:t>
            </a:r>
          </a:p>
        </p:txBody>
      </p:sp>
      <p:sp>
        <p:nvSpPr>
          <p:cNvPr id="32" name="TextBox 31"/>
          <p:cNvSpPr txBox="1"/>
          <p:nvPr/>
        </p:nvSpPr>
        <p:spPr>
          <a:xfrm>
            <a:off x="10927080" y="6080760"/>
            <a:ext cx="411480" cy="228600"/>
          </a:xfrm>
          <a:prstGeom prst="rect">
            <a:avLst/>
          </a:prstGeom>
          <a:noFill/>
        </p:spPr>
        <p:txBody>
          <a:bodyPr wrap="square" anchor="t">
            <a:spAutoFit/>
          </a:bodyPr>
          <a:lstStyle/>
          <a:p>
            <a:pPr algn="r"/>
            <a:r>
              <a:rPr sz="900" b="0">
                <a:solidFill>
                  <a:srgbClr val="63637E"/>
                </a:solidFill>
                <a:latin typeface="Arial"/>
              </a:rPr>
              <a:t>3</a:t>
            </a:r>
          </a:p>
        </p:txBody>
      </p:sp>
    </p:spTree>
    <p:extLst>
      <p:ext uri="{BB962C8B-B14F-4D97-AF65-F5344CB8AC3E}">
        <p14:creationId xmlns:p14="http://schemas.microsoft.com/office/powerpoint/2010/main" val="1549970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909917" y="266513"/>
            <a:ext cx="10515600" cy="1325563"/>
          </a:xfrm>
        </p:spPr>
        <p:txBody>
          <a:bodyPr wrap="square" anchor="t"/>
          <a:lstStyle/>
          <a:p>
            <a:pPr algn="l"/>
            <a:r>
              <a:rPr sz="2800" b="1">
                <a:solidFill>
                  <a:srgbClr val="704EA6"/>
                </a:solidFill>
                <a:latin typeface="Arial"/>
              </a:rPr>
              <a:t>Demo &amp; Product Walkthrough</a:t>
            </a:r>
          </a:p>
        </p:txBody>
      </p:sp>
      <p:sp>
        <p:nvSpPr>
          <p:cNvPr id="4" name="TextBox 3"/>
          <p:cNvSpPr txBox="1"/>
          <p:nvPr/>
        </p:nvSpPr>
        <p:spPr>
          <a:xfrm>
            <a:off x="896112" y="1536192"/>
            <a:ext cx="10241280" cy="411480"/>
          </a:xfrm>
          <a:prstGeom prst="rect">
            <a:avLst/>
          </a:prstGeom>
          <a:noFill/>
        </p:spPr>
        <p:txBody>
          <a:bodyPr wrap="square" anchor="t">
            <a:spAutoFit/>
          </a:bodyPr>
          <a:lstStyle/>
          <a:p>
            <a:pPr algn="l"/>
            <a:r>
              <a:rPr sz="1800" b="1">
                <a:solidFill>
                  <a:srgbClr val="6D28D9"/>
                </a:solidFill>
                <a:latin typeface="Arial"/>
              </a:rPr>
              <a:t>QUERY → GROUNDED → RETRIEVED → VERIFIED</a:t>
            </a:r>
          </a:p>
        </p:txBody>
      </p:sp>
      <p:sp>
        <p:nvSpPr>
          <p:cNvPr id="5" name="Rounded Rectangle 4"/>
          <p:cNvSpPr/>
          <p:nvPr/>
        </p:nvSpPr>
        <p:spPr>
          <a:xfrm>
            <a:off x="822960" y="2011680"/>
            <a:ext cx="3337560" cy="3246120"/>
          </a:xfrm>
          <a:prstGeom prst="roundRect">
            <a:avLst/>
          </a:prstGeom>
          <a:solidFill>
            <a:srgbClr val="F8F8FC"/>
          </a:solidFill>
          <a:ln w="12700">
            <a:solidFill>
              <a:srgbClr val="F8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51560" y="2240280"/>
            <a:ext cx="2743200" cy="274320"/>
          </a:xfrm>
          <a:prstGeom prst="rect">
            <a:avLst/>
          </a:prstGeom>
          <a:noFill/>
        </p:spPr>
        <p:txBody>
          <a:bodyPr wrap="square" anchor="t">
            <a:spAutoFit/>
          </a:bodyPr>
          <a:lstStyle/>
          <a:p>
            <a:pPr algn="l"/>
            <a:r>
              <a:rPr sz="1600" b="1">
                <a:solidFill>
                  <a:srgbClr val="14142B"/>
                </a:solidFill>
                <a:latin typeface="Arial"/>
              </a:rPr>
              <a:t>Try natural language</a:t>
            </a:r>
          </a:p>
        </p:txBody>
      </p:sp>
      <p:sp>
        <p:nvSpPr>
          <p:cNvPr id="7" name="Rounded Rectangle 6"/>
          <p:cNvSpPr/>
          <p:nvPr/>
        </p:nvSpPr>
        <p:spPr>
          <a:xfrm>
            <a:off x="1051560" y="2697480"/>
            <a:ext cx="2743200" cy="438912"/>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88720" y="2779776"/>
            <a:ext cx="2468880" cy="256032"/>
          </a:xfrm>
          <a:prstGeom prst="rect">
            <a:avLst/>
          </a:prstGeom>
          <a:noFill/>
        </p:spPr>
        <p:txBody>
          <a:bodyPr wrap="square" anchor="t">
            <a:spAutoFit/>
          </a:bodyPr>
          <a:lstStyle/>
          <a:p>
            <a:pPr algn="l"/>
            <a:r>
              <a:rPr sz="1050" b="0">
                <a:solidFill>
                  <a:srgbClr val="63637E"/>
                </a:solidFill>
                <a:latin typeface="Calibri"/>
              </a:rPr>
              <a:t>“I want to turn on power saving.”</a:t>
            </a:r>
          </a:p>
        </p:txBody>
      </p:sp>
      <p:sp>
        <p:nvSpPr>
          <p:cNvPr id="9" name="Rounded Rectangle 8"/>
          <p:cNvSpPr/>
          <p:nvPr/>
        </p:nvSpPr>
        <p:spPr>
          <a:xfrm>
            <a:off x="1051560" y="3282696"/>
            <a:ext cx="2743200" cy="438912"/>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88720" y="3364992"/>
            <a:ext cx="2468880" cy="256032"/>
          </a:xfrm>
          <a:prstGeom prst="rect">
            <a:avLst/>
          </a:prstGeom>
          <a:noFill/>
        </p:spPr>
        <p:txBody>
          <a:bodyPr wrap="square" anchor="t">
            <a:spAutoFit/>
          </a:bodyPr>
          <a:lstStyle/>
          <a:p>
            <a:pPr algn="l"/>
            <a:r>
              <a:rPr sz="1050" b="0">
                <a:solidFill>
                  <a:srgbClr val="63637E"/>
                </a:solidFill>
                <a:latin typeface="Calibri"/>
              </a:rPr>
              <a:t>“Battery is draining really fast.”</a:t>
            </a:r>
          </a:p>
        </p:txBody>
      </p:sp>
      <p:sp>
        <p:nvSpPr>
          <p:cNvPr id="11" name="Rounded Rectangle 10"/>
          <p:cNvSpPr/>
          <p:nvPr/>
        </p:nvSpPr>
        <p:spPr>
          <a:xfrm>
            <a:off x="1051560" y="3867912"/>
            <a:ext cx="2743200" cy="438912"/>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88720" y="3950208"/>
            <a:ext cx="2468880" cy="256032"/>
          </a:xfrm>
          <a:prstGeom prst="rect">
            <a:avLst/>
          </a:prstGeom>
          <a:noFill/>
        </p:spPr>
        <p:txBody>
          <a:bodyPr wrap="square" anchor="t">
            <a:spAutoFit/>
          </a:bodyPr>
          <a:lstStyle/>
          <a:p>
            <a:pPr algn="l"/>
            <a:r>
              <a:rPr sz="1050" b="0">
                <a:solidFill>
                  <a:srgbClr val="63637E"/>
                </a:solidFill>
                <a:latin typeface="Calibri"/>
              </a:rPr>
              <a:t>“How do I turn OFF power saving?”</a:t>
            </a:r>
          </a:p>
        </p:txBody>
      </p:sp>
      <p:sp>
        <p:nvSpPr>
          <p:cNvPr id="13" name="Rounded Rectangle 12"/>
          <p:cNvSpPr/>
          <p:nvPr/>
        </p:nvSpPr>
        <p:spPr>
          <a:xfrm>
            <a:off x="1051560" y="4453128"/>
            <a:ext cx="2743200" cy="438912"/>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88720" y="4535424"/>
            <a:ext cx="2468880" cy="256032"/>
          </a:xfrm>
          <a:prstGeom prst="rect">
            <a:avLst/>
          </a:prstGeom>
          <a:noFill/>
        </p:spPr>
        <p:txBody>
          <a:bodyPr wrap="square" anchor="t">
            <a:spAutoFit/>
          </a:bodyPr>
          <a:lstStyle/>
          <a:p>
            <a:pPr algn="l"/>
            <a:r>
              <a:rPr sz="1050" b="0">
                <a:solidFill>
                  <a:srgbClr val="63637E"/>
                </a:solidFill>
                <a:latin typeface="Calibri"/>
              </a:rPr>
              <a:t>“My phone screen is cracked.”</a:t>
            </a:r>
          </a:p>
        </p:txBody>
      </p:sp>
      <p:sp>
        <p:nvSpPr>
          <p:cNvPr id="15" name="Rounded Rectangle 14"/>
          <p:cNvSpPr/>
          <p:nvPr/>
        </p:nvSpPr>
        <p:spPr>
          <a:xfrm>
            <a:off x="4526280" y="2011680"/>
            <a:ext cx="2240280" cy="621792"/>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672584" y="2121408"/>
            <a:ext cx="1947672" cy="274320"/>
          </a:xfrm>
          <a:prstGeom prst="rect">
            <a:avLst/>
          </a:prstGeom>
          <a:noFill/>
        </p:spPr>
        <p:txBody>
          <a:bodyPr wrap="square" anchor="t">
            <a:spAutoFit/>
          </a:bodyPr>
          <a:lstStyle/>
          <a:p>
            <a:pPr algn="l"/>
            <a:r>
              <a:rPr sz="1300" b="1">
                <a:solidFill>
                  <a:srgbClr val="6D28D9"/>
                </a:solidFill>
                <a:latin typeface="Arial"/>
              </a:rPr>
              <a:t>GROUND</a:t>
            </a:r>
          </a:p>
        </p:txBody>
      </p:sp>
      <p:sp>
        <p:nvSpPr>
          <p:cNvPr id="17" name="TextBox 16"/>
          <p:cNvSpPr txBox="1"/>
          <p:nvPr/>
        </p:nvSpPr>
        <p:spPr>
          <a:xfrm>
            <a:off x="4672584" y="2450592"/>
            <a:ext cx="1947672" cy="91440"/>
          </a:xfrm>
          <a:prstGeom prst="rect">
            <a:avLst/>
          </a:prstGeom>
          <a:noFill/>
        </p:spPr>
        <p:txBody>
          <a:bodyPr wrap="square" anchor="t">
            <a:spAutoFit/>
          </a:bodyPr>
          <a:lstStyle/>
          <a:p>
            <a:pPr algn="l"/>
            <a:r>
              <a:rPr sz="1100" b="0">
                <a:solidFill>
                  <a:srgbClr val="63637E"/>
                </a:solidFill>
                <a:latin typeface="Calibri"/>
              </a:rPr>
              <a:t>SIIS context</a:t>
            </a:r>
          </a:p>
        </p:txBody>
      </p:sp>
      <p:cxnSp>
        <p:nvCxnSpPr>
          <p:cNvPr id="18" name="Connector 17"/>
          <p:cNvCxnSpPr/>
          <p:nvPr/>
        </p:nvCxnSpPr>
        <p:spPr>
          <a:xfrm>
            <a:off x="5650992" y="2633472"/>
            <a:ext cx="0" cy="128016"/>
          </a:xfrm>
          <a:prstGeom prst="line">
            <a:avLst/>
          </a:prstGeom>
          <a:ln w="27940">
            <a:solidFill>
              <a:srgbClr val="6D28D9"/>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526280" y="2798064"/>
            <a:ext cx="2240280" cy="621792"/>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672584" y="2907792"/>
            <a:ext cx="1947672" cy="274320"/>
          </a:xfrm>
          <a:prstGeom prst="rect">
            <a:avLst/>
          </a:prstGeom>
          <a:noFill/>
        </p:spPr>
        <p:txBody>
          <a:bodyPr wrap="square" anchor="t">
            <a:spAutoFit/>
          </a:bodyPr>
          <a:lstStyle/>
          <a:p>
            <a:pPr algn="l"/>
            <a:r>
              <a:rPr sz="1300" b="1">
                <a:solidFill>
                  <a:srgbClr val="6D28D9"/>
                </a:solidFill>
                <a:latin typeface="Arial"/>
              </a:rPr>
              <a:t>RETRIEVE</a:t>
            </a:r>
          </a:p>
        </p:txBody>
      </p:sp>
      <p:sp>
        <p:nvSpPr>
          <p:cNvPr id="21" name="TextBox 20"/>
          <p:cNvSpPr txBox="1"/>
          <p:nvPr/>
        </p:nvSpPr>
        <p:spPr>
          <a:xfrm>
            <a:off x="4672584" y="3236976"/>
            <a:ext cx="1947672" cy="91440"/>
          </a:xfrm>
          <a:prstGeom prst="rect">
            <a:avLst/>
          </a:prstGeom>
          <a:noFill/>
        </p:spPr>
        <p:txBody>
          <a:bodyPr wrap="square" anchor="t">
            <a:spAutoFit/>
          </a:bodyPr>
          <a:lstStyle/>
          <a:p>
            <a:pPr algn="l"/>
            <a:r>
              <a:rPr sz="1100" b="0">
                <a:solidFill>
                  <a:srgbClr val="63637E"/>
                </a:solidFill>
                <a:latin typeface="Calibri"/>
              </a:rPr>
              <a:t>Candidate set</a:t>
            </a:r>
          </a:p>
        </p:txBody>
      </p:sp>
      <p:cxnSp>
        <p:nvCxnSpPr>
          <p:cNvPr id="22" name="Connector 21"/>
          <p:cNvCxnSpPr/>
          <p:nvPr/>
        </p:nvCxnSpPr>
        <p:spPr>
          <a:xfrm>
            <a:off x="5650992" y="3419856"/>
            <a:ext cx="0" cy="128016"/>
          </a:xfrm>
          <a:prstGeom prst="line">
            <a:avLst/>
          </a:prstGeom>
          <a:ln w="27940">
            <a:solidFill>
              <a:srgbClr val="6D28D9"/>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526280" y="3584448"/>
            <a:ext cx="2240280" cy="621792"/>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672584" y="3694176"/>
            <a:ext cx="1947672" cy="274320"/>
          </a:xfrm>
          <a:prstGeom prst="rect">
            <a:avLst/>
          </a:prstGeom>
          <a:noFill/>
        </p:spPr>
        <p:txBody>
          <a:bodyPr wrap="square" anchor="t">
            <a:spAutoFit/>
          </a:bodyPr>
          <a:lstStyle/>
          <a:p>
            <a:pPr algn="l"/>
            <a:r>
              <a:rPr sz="1300" b="1">
                <a:solidFill>
                  <a:srgbClr val="6D28D9"/>
                </a:solidFill>
                <a:latin typeface="Arial"/>
              </a:rPr>
              <a:t>SELECT</a:t>
            </a:r>
          </a:p>
        </p:txBody>
      </p:sp>
      <p:sp>
        <p:nvSpPr>
          <p:cNvPr id="25" name="TextBox 24"/>
          <p:cNvSpPr txBox="1"/>
          <p:nvPr/>
        </p:nvSpPr>
        <p:spPr>
          <a:xfrm>
            <a:off x="4672584" y="4023360"/>
            <a:ext cx="1947672" cy="91440"/>
          </a:xfrm>
          <a:prstGeom prst="rect">
            <a:avLst/>
          </a:prstGeom>
          <a:noFill/>
        </p:spPr>
        <p:txBody>
          <a:bodyPr wrap="square" anchor="t">
            <a:spAutoFit/>
          </a:bodyPr>
          <a:lstStyle/>
          <a:p>
            <a:pPr algn="l"/>
            <a:r>
              <a:rPr sz="1100" b="0">
                <a:solidFill>
                  <a:srgbClr val="63637E"/>
                </a:solidFill>
                <a:latin typeface="Calibri"/>
              </a:rPr>
              <a:t>Deterministic / Gemini</a:t>
            </a:r>
          </a:p>
        </p:txBody>
      </p:sp>
      <p:cxnSp>
        <p:nvCxnSpPr>
          <p:cNvPr id="26" name="Connector 25"/>
          <p:cNvCxnSpPr/>
          <p:nvPr/>
        </p:nvCxnSpPr>
        <p:spPr>
          <a:xfrm>
            <a:off x="5650992" y="4206240"/>
            <a:ext cx="0" cy="128016"/>
          </a:xfrm>
          <a:prstGeom prst="line">
            <a:avLst/>
          </a:prstGeom>
          <a:ln w="27940">
            <a:solidFill>
              <a:srgbClr val="6D28D9"/>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4526280" y="4370832"/>
            <a:ext cx="2240280" cy="621792"/>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672584" y="4480560"/>
            <a:ext cx="1947672" cy="274320"/>
          </a:xfrm>
          <a:prstGeom prst="rect">
            <a:avLst/>
          </a:prstGeom>
          <a:noFill/>
        </p:spPr>
        <p:txBody>
          <a:bodyPr wrap="square" anchor="t">
            <a:spAutoFit/>
          </a:bodyPr>
          <a:lstStyle/>
          <a:p>
            <a:pPr algn="l"/>
            <a:r>
              <a:rPr sz="1300" b="1">
                <a:solidFill>
                  <a:srgbClr val="6D28D9"/>
                </a:solidFill>
                <a:latin typeface="Arial"/>
              </a:rPr>
              <a:t>VERIFY</a:t>
            </a:r>
          </a:p>
        </p:txBody>
      </p:sp>
      <p:sp>
        <p:nvSpPr>
          <p:cNvPr id="29" name="TextBox 28"/>
          <p:cNvSpPr txBox="1"/>
          <p:nvPr/>
        </p:nvSpPr>
        <p:spPr>
          <a:xfrm>
            <a:off x="4672584" y="4809744"/>
            <a:ext cx="1947672" cy="91440"/>
          </a:xfrm>
          <a:prstGeom prst="rect">
            <a:avLst/>
          </a:prstGeom>
          <a:noFill/>
        </p:spPr>
        <p:txBody>
          <a:bodyPr wrap="square" anchor="t">
            <a:spAutoFit/>
          </a:bodyPr>
          <a:lstStyle/>
          <a:p>
            <a:pPr algn="l"/>
            <a:r>
              <a:rPr sz="1100" b="0">
                <a:solidFill>
                  <a:srgbClr val="63637E"/>
                </a:solidFill>
                <a:latin typeface="Calibri"/>
              </a:rPr>
              <a:t>Catalog + safety</a:t>
            </a:r>
          </a:p>
        </p:txBody>
      </p:sp>
      <p:sp>
        <p:nvSpPr>
          <p:cNvPr id="30" name="Rounded Rectangle 29"/>
          <p:cNvSpPr/>
          <p:nvPr/>
        </p:nvSpPr>
        <p:spPr>
          <a:xfrm>
            <a:off x="7178040" y="2011680"/>
            <a:ext cx="3520440" cy="3246120"/>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424927" y="2240280"/>
            <a:ext cx="2926080" cy="274320"/>
          </a:xfrm>
          <a:prstGeom prst="rect">
            <a:avLst/>
          </a:prstGeom>
          <a:noFill/>
        </p:spPr>
        <p:txBody>
          <a:bodyPr wrap="square" anchor="t">
            <a:spAutoFit/>
          </a:bodyPr>
          <a:lstStyle/>
          <a:p>
            <a:pPr algn="l"/>
            <a:r>
              <a:rPr sz="1600" b="1">
                <a:solidFill>
                  <a:srgbClr val="14142B"/>
                </a:solidFill>
                <a:latin typeface="Arial"/>
              </a:rPr>
              <a:t>Structured response</a:t>
            </a:r>
          </a:p>
        </p:txBody>
      </p:sp>
      <p:sp>
        <p:nvSpPr>
          <p:cNvPr id="32" name="Rounded Rectangle 31"/>
          <p:cNvSpPr/>
          <p:nvPr/>
        </p:nvSpPr>
        <p:spPr>
          <a:xfrm>
            <a:off x="7424927" y="2697480"/>
            <a:ext cx="1325880" cy="310896"/>
          </a:xfrm>
          <a:prstGeom prst="roundRect">
            <a:avLst/>
          </a:prstGeom>
          <a:solidFill>
            <a:srgbClr val="16784B"/>
          </a:solidFill>
          <a:ln w="12700">
            <a:solidFill>
              <a:srgbClr val="16784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Arial"/>
              </a:rPr>
              <a:t>VERIFIED</a:t>
            </a:r>
          </a:p>
        </p:txBody>
      </p:sp>
      <p:sp>
        <p:nvSpPr>
          <p:cNvPr id="33" name="TextBox 32"/>
          <p:cNvSpPr txBox="1"/>
          <p:nvPr/>
        </p:nvSpPr>
        <p:spPr>
          <a:xfrm>
            <a:off x="7424927" y="3154680"/>
            <a:ext cx="2743200" cy="1554480"/>
          </a:xfrm>
          <a:prstGeom prst="rect">
            <a:avLst/>
          </a:prstGeom>
          <a:noFill/>
        </p:spPr>
        <p:txBody>
          <a:bodyPr wrap="square" anchor="t">
            <a:spAutoFit/>
          </a:bodyPr>
          <a:lstStyle/>
          <a:p>
            <a:pPr algn="l"/>
            <a:r>
              <a:rPr sz="1400" b="0">
                <a:solidFill>
                  <a:srgbClr val="63637E"/>
                </a:solidFill>
                <a:latin typeface="Calibri"/>
              </a:rPr>
              <a:t>Context
Goal
Action
Troubleshooting steps
Actionable deeplink
Validation deeplink</a:t>
            </a:r>
          </a:p>
        </p:txBody>
      </p:sp>
      <p:sp>
        <p:nvSpPr>
          <p:cNvPr id="34" name="TextBox 33"/>
          <p:cNvSpPr txBox="1"/>
          <p:nvPr/>
        </p:nvSpPr>
        <p:spPr>
          <a:xfrm>
            <a:off x="868680" y="5559552"/>
            <a:ext cx="10149840" cy="384048"/>
          </a:xfrm>
          <a:prstGeom prst="rect">
            <a:avLst/>
          </a:prstGeom>
          <a:noFill/>
        </p:spPr>
        <p:txBody>
          <a:bodyPr wrap="square" anchor="t">
            <a:spAutoFit/>
          </a:bodyPr>
          <a:lstStyle/>
          <a:p>
            <a:pPr algn="ctr"/>
            <a:r>
              <a:rPr sz="1200" b="0">
                <a:solidFill>
                  <a:srgbClr val="63637E"/>
                </a:solidFill>
                <a:latin typeface="Calibri"/>
              </a:rPr>
              <a:t>Hardware example: a cracked screen follows an appropriate/manual path — not an invented Display Settings action.</a:t>
            </a:r>
          </a:p>
        </p:txBody>
      </p:sp>
      <p:sp>
        <p:nvSpPr>
          <p:cNvPr id="35" name="TextBox 34"/>
          <p:cNvSpPr txBox="1"/>
          <p:nvPr/>
        </p:nvSpPr>
        <p:spPr>
          <a:xfrm>
            <a:off x="10927080" y="6080760"/>
            <a:ext cx="411480" cy="228600"/>
          </a:xfrm>
          <a:prstGeom prst="rect">
            <a:avLst/>
          </a:prstGeom>
          <a:noFill/>
        </p:spPr>
        <p:txBody>
          <a:bodyPr wrap="square" anchor="t">
            <a:spAutoFit/>
          </a:bodyPr>
          <a:lstStyle/>
          <a:p>
            <a:pPr algn="r"/>
            <a:r>
              <a:rPr sz="900" b="0">
                <a:solidFill>
                  <a:srgbClr val="63637E"/>
                </a:solidFill>
                <a:latin typeface="Arial"/>
              </a:rPr>
              <a:t>4</a:t>
            </a:r>
          </a:p>
        </p:txBody>
      </p:sp>
    </p:spTree>
    <p:extLst>
      <p:ext uri="{BB962C8B-B14F-4D97-AF65-F5344CB8AC3E}">
        <p14:creationId xmlns:p14="http://schemas.microsoft.com/office/powerpoint/2010/main" val="257978907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wrap="square" anchor="t"/>
          <a:lstStyle/>
          <a:p>
            <a:pPr algn="l"/>
            <a:r>
              <a:rPr sz="2800" b="1">
                <a:solidFill>
                  <a:srgbClr val="704EA6"/>
                </a:solidFill>
                <a:latin typeface="Arial"/>
              </a:rPr>
              <a:t>Tools and Tech Stack Used</a:t>
            </a:r>
          </a:p>
        </p:txBody>
      </p:sp>
      <p:sp>
        <p:nvSpPr>
          <p:cNvPr id="4" name="Rounded Rectangle 3"/>
          <p:cNvSpPr/>
          <p:nvPr/>
        </p:nvSpPr>
        <p:spPr>
          <a:xfrm>
            <a:off x="822960" y="1691640"/>
            <a:ext cx="3246120" cy="1600200"/>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9264" y="1801368"/>
            <a:ext cx="2953512" cy="274320"/>
          </a:xfrm>
          <a:prstGeom prst="rect">
            <a:avLst/>
          </a:prstGeom>
          <a:noFill/>
        </p:spPr>
        <p:txBody>
          <a:bodyPr wrap="square" anchor="t">
            <a:spAutoFit/>
          </a:bodyPr>
          <a:lstStyle/>
          <a:p>
            <a:pPr algn="l"/>
            <a:r>
              <a:rPr sz="1300" b="1">
                <a:solidFill>
                  <a:srgbClr val="704EA6"/>
                </a:solidFill>
                <a:latin typeface="Arial"/>
              </a:rPr>
              <a:t>BACKEND</a:t>
            </a:r>
          </a:p>
        </p:txBody>
      </p:sp>
      <p:sp>
        <p:nvSpPr>
          <p:cNvPr id="6" name="TextBox 5"/>
          <p:cNvSpPr txBox="1"/>
          <p:nvPr/>
        </p:nvSpPr>
        <p:spPr>
          <a:xfrm>
            <a:off x="969264" y="2130552"/>
            <a:ext cx="2953512" cy="1069848"/>
          </a:xfrm>
          <a:prstGeom prst="rect">
            <a:avLst/>
          </a:prstGeom>
          <a:noFill/>
        </p:spPr>
        <p:txBody>
          <a:bodyPr wrap="square" anchor="t">
            <a:spAutoFit/>
          </a:bodyPr>
          <a:lstStyle/>
          <a:p>
            <a:pPr algn="l"/>
            <a:r>
              <a:rPr sz="1100" b="0">
                <a:solidFill>
                  <a:srgbClr val="63637E"/>
                </a:solidFill>
                <a:latin typeface="Calibri"/>
              </a:rPr>
              <a:t>Python
FastAPI
Pydantic</a:t>
            </a:r>
          </a:p>
        </p:txBody>
      </p:sp>
      <p:sp>
        <p:nvSpPr>
          <p:cNvPr id="7" name="Rounded Rectangle 6"/>
          <p:cNvSpPr/>
          <p:nvPr/>
        </p:nvSpPr>
        <p:spPr>
          <a:xfrm>
            <a:off x="4434840" y="1691640"/>
            <a:ext cx="3246120" cy="1600200"/>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81144" y="1801368"/>
            <a:ext cx="2953512" cy="274320"/>
          </a:xfrm>
          <a:prstGeom prst="rect">
            <a:avLst/>
          </a:prstGeom>
          <a:noFill/>
        </p:spPr>
        <p:txBody>
          <a:bodyPr wrap="square" anchor="t">
            <a:spAutoFit/>
          </a:bodyPr>
          <a:lstStyle/>
          <a:p>
            <a:pPr algn="l"/>
            <a:r>
              <a:rPr sz="1300" b="1">
                <a:solidFill>
                  <a:srgbClr val="6D28D9"/>
                </a:solidFill>
                <a:latin typeface="Arial"/>
              </a:rPr>
              <a:t>RETRIEVAL</a:t>
            </a:r>
          </a:p>
        </p:txBody>
      </p:sp>
      <p:sp>
        <p:nvSpPr>
          <p:cNvPr id="9" name="TextBox 8"/>
          <p:cNvSpPr txBox="1"/>
          <p:nvPr/>
        </p:nvSpPr>
        <p:spPr>
          <a:xfrm>
            <a:off x="4581144" y="2130552"/>
            <a:ext cx="2953512" cy="1069848"/>
          </a:xfrm>
          <a:prstGeom prst="rect">
            <a:avLst/>
          </a:prstGeom>
          <a:noFill/>
        </p:spPr>
        <p:txBody>
          <a:bodyPr wrap="square" anchor="t">
            <a:spAutoFit/>
          </a:bodyPr>
          <a:lstStyle/>
          <a:p>
            <a:pPr algn="l"/>
            <a:r>
              <a:rPr sz="1100" b="0">
                <a:solidFill>
                  <a:srgbClr val="63637E"/>
                </a:solidFill>
                <a:latin typeface="Calibri"/>
              </a:rPr>
              <a:t>BM25
all-MiniLM-L6-v2
Hybrid fusion + reranking</a:t>
            </a:r>
          </a:p>
        </p:txBody>
      </p:sp>
      <p:sp>
        <p:nvSpPr>
          <p:cNvPr id="10" name="Rounded Rectangle 9"/>
          <p:cNvSpPr/>
          <p:nvPr/>
        </p:nvSpPr>
        <p:spPr>
          <a:xfrm>
            <a:off x="8046720" y="1691640"/>
            <a:ext cx="3246120" cy="1600200"/>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93024" y="1801368"/>
            <a:ext cx="2953512" cy="274320"/>
          </a:xfrm>
          <a:prstGeom prst="rect">
            <a:avLst/>
          </a:prstGeom>
          <a:noFill/>
        </p:spPr>
        <p:txBody>
          <a:bodyPr wrap="square" anchor="t">
            <a:spAutoFit/>
          </a:bodyPr>
          <a:lstStyle/>
          <a:p>
            <a:pPr algn="l"/>
            <a:r>
              <a:rPr sz="1300" b="1">
                <a:solidFill>
                  <a:srgbClr val="6D28D9"/>
                </a:solidFill>
                <a:latin typeface="Arial"/>
              </a:rPr>
              <a:t>GENAI</a:t>
            </a:r>
          </a:p>
        </p:txBody>
      </p:sp>
      <p:sp>
        <p:nvSpPr>
          <p:cNvPr id="12" name="TextBox 11"/>
          <p:cNvSpPr txBox="1"/>
          <p:nvPr/>
        </p:nvSpPr>
        <p:spPr>
          <a:xfrm>
            <a:off x="8193024" y="2130552"/>
            <a:ext cx="2953512" cy="1069848"/>
          </a:xfrm>
          <a:prstGeom prst="rect">
            <a:avLst/>
          </a:prstGeom>
          <a:noFill/>
        </p:spPr>
        <p:txBody>
          <a:bodyPr wrap="square" anchor="t">
            <a:spAutoFit/>
          </a:bodyPr>
          <a:lstStyle/>
          <a:p>
            <a:pPr algn="l"/>
            <a:r>
              <a:rPr sz="1100" b="0">
                <a:solidFill>
                  <a:srgbClr val="63637E"/>
                </a:solidFill>
                <a:latin typeface="Calibri"/>
              </a:rPr>
              <a:t>Gemini
Targeted candidate selection
Only when ambiguity warrants</a:t>
            </a:r>
          </a:p>
        </p:txBody>
      </p:sp>
      <p:sp>
        <p:nvSpPr>
          <p:cNvPr id="13" name="Rounded Rectangle 12"/>
          <p:cNvSpPr/>
          <p:nvPr/>
        </p:nvSpPr>
        <p:spPr>
          <a:xfrm>
            <a:off x="822960" y="3840480"/>
            <a:ext cx="4892040" cy="1600200"/>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69264" y="3950208"/>
            <a:ext cx="4599431" cy="274320"/>
          </a:xfrm>
          <a:prstGeom prst="rect">
            <a:avLst/>
          </a:prstGeom>
          <a:noFill/>
        </p:spPr>
        <p:txBody>
          <a:bodyPr wrap="square" anchor="t">
            <a:spAutoFit/>
          </a:bodyPr>
          <a:lstStyle/>
          <a:p>
            <a:pPr algn="l"/>
            <a:r>
              <a:rPr sz="1300" b="1">
                <a:solidFill>
                  <a:srgbClr val="704EA6"/>
                </a:solidFill>
                <a:latin typeface="Arial"/>
              </a:rPr>
              <a:t>DATA &amp; SAFETY</a:t>
            </a:r>
          </a:p>
        </p:txBody>
      </p:sp>
      <p:sp>
        <p:nvSpPr>
          <p:cNvPr id="15" name="TextBox 14"/>
          <p:cNvSpPr txBox="1"/>
          <p:nvPr/>
        </p:nvSpPr>
        <p:spPr>
          <a:xfrm>
            <a:off x="969264" y="4279392"/>
            <a:ext cx="4599431" cy="1069848"/>
          </a:xfrm>
          <a:prstGeom prst="rect">
            <a:avLst/>
          </a:prstGeom>
          <a:noFill/>
        </p:spPr>
        <p:txBody>
          <a:bodyPr wrap="square" anchor="t">
            <a:spAutoFit/>
          </a:bodyPr>
          <a:lstStyle/>
          <a:p>
            <a:pPr algn="l"/>
            <a:r>
              <a:rPr sz="1100" b="0">
                <a:solidFill>
                  <a:srgbClr val="63637E"/>
                </a:solidFill>
                <a:latin typeface="Calibri"/>
              </a:rPr>
              <a:t>Samsung SIIS
deeplinks.json • 578 entries
Schema / URL / hardware guards</a:t>
            </a:r>
          </a:p>
        </p:txBody>
      </p:sp>
      <p:sp>
        <p:nvSpPr>
          <p:cNvPr id="16" name="Rounded Rectangle 15"/>
          <p:cNvSpPr/>
          <p:nvPr/>
        </p:nvSpPr>
        <p:spPr>
          <a:xfrm>
            <a:off x="5989320" y="3840480"/>
            <a:ext cx="4892040" cy="1600200"/>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35624" y="3950208"/>
            <a:ext cx="4599431" cy="274320"/>
          </a:xfrm>
          <a:prstGeom prst="rect">
            <a:avLst/>
          </a:prstGeom>
          <a:noFill/>
        </p:spPr>
        <p:txBody>
          <a:bodyPr wrap="square" anchor="t">
            <a:spAutoFit/>
          </a:bodyPr>
          <a:lstStyle/>
          <a:p>
            <a:pPr algn="l"/>
            <a:r>
              <a:rPr sz="1300" b="1">
                <a:solidFill>
                  <a:srgbClr val="704EA6"/>
                </a:solidFill>
                <a:latin typeface="Arial"/>
              </a:rPr>
              <a:t>PERFORMANCE</a:t>
            </a:r>
          </a:p>
        </p:txBody>
      </p:sp>
      <p:sp>
        <p:nvSpPr>
          <p:cNvPr id="18" name="TextBox 17"/>
          <p:cNvSpPr txBox="1"/>
          <p:nvPr/>
        </p:nvSpPr>
        <p:spPr>
          <a:xfrm>
            <a:off x="6135624" y="4279392"/>
            <a:ext cx="4599431" cy="1069848"/>
          </a:xfrm>
          <a:prstGeom prst="rect">
            <a:avLst/>
          </a:prstGeom>
          <a:noFill/>
        </p:spPr>
        <p:txBody>
          <a:bodyPr wrap="square" anchor="t">
            <a:spAutoFit/>
          </a:bodyPr>
          <a:lstStyle/>
          <a:p>
            <a:pPr algn="l"/>
            <a:r>
              <a:rPr sz="1100" b="0">
                <a:solidFill>
                  <a:srgbClr val="63637E"/>
                </a:solidFill>
                <a:latin typeface="Calibri"/>
              </a:rPr>
              <a:t>Local / replay cache
Selective Gemini usage
Cold + repeat paths</a:t>
            </a:r>
          </a:p>
        </p:txBody>
      </p:sp>
      <p:sp>
        <p:nvSpPr>
          <p:cNvPr id="19" name="TextBox 18"/>
          <p:cNvSpPr txBox="1"/>
          <p:nvPr/>
        </p:nvSpPr>
        <p:spPr>
          <a:xfrm>
            <a:off x="868680" y="5650992"/>
            <a:ext cx="10058400" cy="347472"/>
          </a:xfrm>
          <a:prstGeom prst="rect">
            <a:avLst/>
          </a:prstGeom>
          <a:noFill/>
        </p:spPr>
        <p:txBody>
          <a:bodyPr wrap="square" anchor="t">
            <a:spAutoFit/>
          </a:bodyPr>
          <a:lstStyle/>
          <a:p>
            <a:pPr algn="ctr"/>
            <a:r>
              <a:rPr sz="1300" b="1">
                <a:solidFill>
                  <a:srgbClr val="14142B"/>
                </a:solidFill>
                <a:latin typeface="Calibri"/>
              </a:rPr>
              <a:t>UI: SYNTRA playground  •  QUERY → GROUNDED → RETRIEVED → VERIFIED</a:t>
            </a:r>
          </a:p>
        </p:txBody>
      </p:sp>
      <p:sp>
        <p:nvSpPr>
          <p:cNvPr id="20" name="TextBox 19"/>
          <p:cNvSpPr txBox="1"/>
          <p:nvPr/>
        </p:nvSpPr>
        <p:spPr>
          <a:xfrm>
            <a:off x="10927080" y="6080760"/>
            <a:ext cx="411480" cy="228600"/>
          </a:xfrm>
          <a:prstGeom prst="rect">
            <a:avLst/>
          </a:prstGeom>
          <a:noFill/>
        </p:spPr>
        <p:txBody>
          <a:bodyPr wrap="square" anchor="t">
            <a:spAutoFit/>
          </a:bodyPr>
          <a:lstStyle/>
          <a:p>
            <a:pPr algn="r"/>
            <a:r>
              <a:rPr sz="900" b="0">
                <a:solidFill>
                  <a:srgbClr val="63637E"/>
                </a:solidFill>
                <a:latin typeface="Arial"/>
              </a:rPr>
              <a:t>5</a:t>
            </a:r>
          </a:p>
        </p:txBody>
      </p:sp>
    </p:spTree>
    <p:extLst>
      <p:ext uri="{BB962C8B-B14F-4D97-AF65-F5344CB8AC3E}">
        <p14:creationId xmlns:p14="http://schemas.microsoft.com/office/powerpoint/2010/main" val="117824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wrap="square" anchor="t"/>
          <a:lstStyle/>
          <a:p>
            <a:pPr algn="l"/>
            <a:r>
              <a:rPr sz="2800" b="1">
                <a:solidFill>
                  <a:srgbClr val="704EA6"/>
                </a:solidFill>
                <a:latin typeface="Arial"/>
              </a:rPr>
              <a:t>Impact &amp; Use Case</a:t>
            </a:r>
            <a:endParaRPr lang="en-IN" b="1" dirty="0">
              <a:solidFill>
                <a:srgbClr val="704EA6"/>
              </a:solidFill>
            </a:endParaRPr>
          </a:p>
        </p:txBody>
      </p:sp>
      <p:sp>
        <p:nvSpPr>
          <p:cNvPr id="4" name="Rounded Rectangle 3"/>
          <p:cNvSpPr/>
          <p:nvPr/>
        </p:nvSpPr>
        <p:spPr>
          <a:xfrm>
            <a:off x="822960" y="1627632"/>
            <a:ext cx="2423160" cy="1234440"/>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87552" y="1755648"/>
            <a:ext cx="2093976" cy="438912"/>
          </a:xfrm>
          <a:prstGeom prst="rect">
            <a:avLst/>
          </a:prstGeom>
          <a:noFill/>
        </p:spPr>
        <p:txBody>
          <a:bodyPr wrap="square" anchor="t">
            <a:spAutoFit/>
          </a:bodyPr>
          <a:lstStyle/>
          <a:p>
            <a:pPr algn="l"/>
            <a:r>
              <a:rPr sz="2500" b="1">
                <a:solidFill>
                  <a:srgbClr val="6D28D9"/>
                </a:solidFill>
                <a:latin typeface="Arial"/>
              </a:rPr>
              <a:t>578</a:t>
            </a:r>
          </a:p>
        </p:txBody>
      </p:sp>
      <p:sp>
        <p:nvSpPr>
          <p:cNvPr id="6" name="TextBox 5"/>
          <p:cNvSpPr txBox="1"/>
          <p:nvPr/>
        </p:nvSpPr>
        <p:spPr>
          <a:xfrm>
            <a:off x="987552" y="2231136"/>
            <a:ext cx="2093976" cy="539496"/>
          </a:xfrm>
          <a:prstGeom prst="rect">
            <a:avLst/>
          </a:prstGeom>
          <a:noFill/>
        </p:spPr>
        <p:txBody>
          <a:bodyPr wrap="square" anchor="t">
            <a:spAutoFit/>
          </a:bodyPr>
          <a:lstStyle/>
          <a:p>
            <a:pPr algn="l"/>
            <a:r>
              <a:rPr sz="1100" b="0">
                <a:solidFill>
                  <a:srgbClr val="63637E"/>
                </a:solidFill>
                <a:latin typeface="Calibri"/>
              </a:rPr>
              <a:t>authoritative catalog entries</a:t>
            </a:r>
          </a:p>
        </p:txBody>
      </p:sp>
      <p:sp>
        <p:nvSpPr>
          <p:cNvPr id="7" name="Rounded Rectangle 6"/>
          <p:cNvSpPr/>
          <p:nvPr/>
        </p:nvSpPr>
        <p:spPr>
          <a:xfrm>
            <a:off x="3547872" y="1627632"/>
            <a:ext cx="2423160" cy="1234440"/>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712463" y="1755648"/>
            <a:ext cx="2093976" cy="438912"/>
          </a:xfrm>
          <a:prstGeom prst="rect">
            <a:avLst/>
          </a:prstGeom>
          <a:noFill/>
        </p:spPr>
        <p:txBody>
          <a:bodyPr wrap="square" anchor="t">
            <a:spAutoFit/>
          </a:bodyPr>
          <a:lstStyle/>
          <a:p>
            <a:pPr algn="l"/>
            <a:r>
              <a:rPr sz="2500" b="1">
                <a:solidFill>
                  <a:srgbClr val="6D28D9"/>
                </a:solidFill>
                <a:latin typeface="Arial"/>
              </a:rPr>
              <a:t>100%</a:t>
            </a:r>
          </a:p>
        </p:txBody>
      </p:sp>
      <p:sp>
        <p:nvSpPr>
          <p:cNvPr id="9" name="TextBox 8"/>
          <p:cNvSpPr txBox="1"/>
          <p:nvPr/>
        </p:nvSpPr>
        <p:spPr>
          <a:xfrm>
            <a:off x="3712463" y="2231136"/>
            <a:ext cx="2093976" cy="539496"/>
          </a:xfrm>
          <a:prstGeom prst="rect">
            <a:avLst/>
          </a:prstGeom>
          <a:noFill/>
        </p:spPr>
        <p:txBody>
          <a:bodyPr wrap="square" anchor="t">
            <a:spAutoFit/>
          </a:bodyPr>
          <a:lstStyle/>
          <a:p>
            <a:pPr algn="l"/>
            <a:r>
              <a:rPr sz="1100" b="0">
                <a:solidFill>
                  <a:srgbClr val="63637E"/>
                </a:solidFill>
                <a:latin typeface="Calibri"/>
              </a:rPr>
              <a:t>hardware safety</a:t>
            </a:r>
          </a:p>
        </p:txBody>
      </p:sp>
      <p:sp>
        <p:nvSpPr>
          <p:cNvPr id="10" name="Rounded Rectangle 9"/>
          <p:cNvSpPr/>
          <p:nvPr/>
        </p:nvSpPr>
        <p:spPr>
          <a:xfrm>
            <a:off x="6272784" y="1627632"/>
            <a:ext cx="2423160" cy="1234440"/>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37376" y="1755648"/>
            <a:ext cx="2093976" cy="438912"/>
          </a:xfrm>
          <a:prstGeom prst="rect">
            <a:avLst/>
          </a:prstGeom>
          <a:noFill/>
        </p:spPr>
        <p:txBody>
          <a:bodyPr wrap="square" anchor="t">
            <a:spAutoFit/>
          </a:bodyPr>
          <a:lstStyle/>
          <a:p>
            <a:pPr algn="l"/>
            <a:r>
              <a:rPr sz="2500" b="1">
                <a:solidFill>
                  <a:srgbClr val="16784B"/>
                </a:solidFill>
                <a:latin typeface="Arial"/>
              </a:rPr>
              <a:t>27 / 27</a:t>
            </a:r>
          </a:p>
        </p:txBody>
      </p:sp>
      <p:sp>
        <p:nvSpPr>
          <p:cNvPr id="12" name="TextBox 11"/>
          <p:cNvSpPr txBox="1"/>
          <p:nvPr/>
        </p:nvSpPr>
        <p:spPr>
          <a:xfrm>
            <a:off x="6437376" y="2231136"/>
            <a:ext cx="2093976" cy="539496"/>
          </a:xfrm>
          <a:prstGeom prst="rect">
            <a:avLst/>
          </a:prstGeom>
          <a:noFill/>
        </p:spPr>
        <p:txBody>
          <a:bodyPr wrap="square" anchor="t">
            <a:spAutoFit/>
          </a:bodyPr>
          <a:lstStyle/>
          <a:p>
            <a:pPr algn="l"/>
            <a:r>
              <a:rPr sz="1100" b="0">
                <a:solidFill>
                  <a:srgbClr val="63637E"/>
                </a:solidFill>
                <a:latin typeface="Calibri"/>
              </a:rPr>
              <a:t>security tests passing</a:t>
            </a:r>
          </a:p>
        </p:txBody>
      </p:sp>
      <p:sp>
        <p:nvSpPr>
          <p:cNvPr id="13" name="Rounded Rectangle 12"/>
          <p:cNvSpPr/>
          <p:nvPr/>
        </p:nvSpPr>
        <p:spPr>
          <a:xfrm>
            <a:off x="8997696" y="1627632"/>
            <a:ext cx="2423160" cy="1234440"/>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62288" y="1755648"/>
            <a:ext cx="2093976" cy="438912"/>
          </a:xfrm>
          <a:prstGeom prst="rect">
            <a:avLst/>
          </a:prstGeom>
          <a:noFill/>
        </p:spPr>
        <p:txBody>
          <a:bodyPr wrap="square" anchor="t">
            <a:spAutoFit/>
          </a:bodyPr>
          <a:lstStyle/>
          <a:p>
            <a:pPr algn="l"/>
            <a:r>
              <a:rPr sz="2500" b="1">
                <a:solidFill>
                  <a:srgbClr val="6D28D9"/>
                </a:solidFill>
                <a:latin typeface="Arial"/>
              </a:rPr>
              <a:t>60 / 60</a:t>
            </a:r>
          </a:p>
        </p:txBody>
      </p:sp>
      <p:sp>
        <p:nvSpPr>
          <p:cNvPr id="15" name="TextBox 14"/>
          <p:cNvSpPr txBox="1"/>
          <p:nvPr/>
        </p:nvSpPr>
        <p:spPr>
          <a:xfrm>
            <a:off x="9162288" y="2231136"/>
            <a:ext cx="2093976" cy="539496"/>
          </a:xfrm>
          <a:prstGeom prst="rect">
            <a:avLst/>
          </a:prstGeom>
          <a:noFill/>
        </p:spPr>
        <p:txBody>
          <a:bodyPr wrap="square" anchor="t">
            <a:spAutoFit/>
          </a:bodyPr>
          <a:lstStyle/>
          <a:p>
            <a:pPr algn="l"/>
            <a:r>
              <a:rPr sz="1100" b="0">
                <a:solidFill>
                  <a:srgbClr val="63637E"/>
                </a:solidFill>
                <a:latin typeface="Calibri"/>
              </a:rPr>
              <a:t>official evaluator</a:t>
            </a:r>
          </a:p>
        </p:txBody>
      </p:sp>
      <p:sp>
        <p:nvSpPr>
          <p:cNvPr id="16" name="Rounded Rectangle 15"/>
          <p:cNvSpPr/>
          <p:nvPr/>
        </p:nvSpPr>
        <p:spPr>
          <a:xfrm>
            <a:off x="822960" y="3246120"/>
            <a:ext cx="4983480" cy="1024128"/>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9264" y="3355848"/>
            <a:ext cx="4690872" cy="274320"/>
          </a:xfrm>
          <a:prstGeom prst="rect">
            <a:avLst/>
          </a:prstGeom>
          <a:noFill/>
        </p:spPr>
        <p:txBody>
          <a:bodyPr wrap="square" anchor="t">
            <a:spAutoFit/>
          </a:bodyPr>
          <a:lstStyle/>
          <a:p>
            <a:pPr algn="l"/>
            <a:r>
              <a:rPr sz="1300" b="1">
                <a:solidFill>
                  <a:srgbClr val="704EA6"/>
                </a:solidFill>
                <a:latin typeface="Arial"/>
              </a:rPr>
              <a:t>BATTERY / POWER</a:t>
            </a:r>
          </a:p>
        </p:txBody>
      </p:sp>
      <p:sp>
        <p:nvSpPr>
          <p:cNvPr id="18" name="TextBox 17"/>
          <p:cNvSpPr txBox="1"/>
          <p:nvPr/>
        </p:nvSpPr>
        <p:spPr>
          <a:xfrm>
            <a:off x="969264" y="3685031"/>
            <a:ext cx="4690872" cy="493776"/>
          </a:xfrm>
          <a:prstGeom prst="rect">
            <a:avLst/>
          </a:prstGeom>
          <a:noFill/>
        </p:spPr>
        <p:txBody>
          <a:bodyPr wrap="square" anchor="t">
            <a:spAutoFit/>
          </a:bodyPr>
          <a:lstStyle/>
          <a:p>
            <a:pPr algn="l"/>
            <a:r>
              <a:rPr sz="1100" b="0">
                <a:solidFill>
                  <a:srgbClr val="63637E"/>
                </a:solidFill>
                <a:latin typeface="Calibri"/>
              </a:rPr>
              <a:t>Enable, disable and related power intents</a:t>
            </a:r>
          </a:p>
        </p:txBody>
      </p:sp>
      <p:sp>
        <p:nvSpPr>
          <p:cNvPr id="19" name="Rounded Rectangle 18"/>
          <p:cNvSpPr/>
          <p:nvPr/>
        </p:nvSpPr>
        <p:spPr>
          <a:xfrm>
            <a:off x="6217920" y="3246120"/>
            <a:ext cx="4983480" cy="1024128"/>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64224" y="3355848"/>
            <a:ext cx="4690872" cy="274320"/>
          </a:xfrm>
          <a:prstGeom prst="rect">
            <a:avLst/>
          </a:prstGeom>
          <a:noFill/>
        </p:spPr>
        <p:txBody>
          <a:bodyPr wrap="square" anchor="t">
            <a:spAutoFit/>
          </a:bodyPr>
          <a:lstStyle/>
          <a:p>
            <a:pPr algn="l"/>
            <a:r>
              <a:rPr sz="1300" b="1">
                <a:solidFill>
                  <a:srgbClr val="704EA6"/>
                </a:solidFill>
                <a:latin typeface="Arial"/>
              </a:rPr>
              <a:t>CONNECTIVITY</a:t>
            </a:r>
          </a:p>
        </p:txBody>
      </p:sp>
      <p:sp>
        <p:nvSpPr>
          <p:cNvPr id="21" name="TextBox 20"/>
          <p:cNvSpPr txBox="1"/>
          <p:nvPr/>
        </p:nvSpPr>
        <p:spPr>
          <a:xfrm>
            <a:off x="6364224" y="3685031"/>
            <a:ext cx="4690872" cy="493776"/>
          </a:xfrm>
          <a:prstGeom prst="rect">
            <a:avLst/>
          </a:prstGeom>
          <a:noFill/>
        </p:spPr>
        <p:txBody>
          <a:bodyPr wrap="square" anchor="t">
            <a:spAutoFit/>
          </a:bodyPr>
          <a:lstStyle/>
          <a:p>
            <a:pPr algn="l"/>
            <a:r>
              <a:rPr sz="1100" b="0">
                <a:solidFill>
                  <a:srgbClr val="63637E"/>
                </a:solidFill>
                <a:latin typeface="Calibri"/>
              </a:rPr>
              <a:t>Wi‑Fi, hotspot and device settings</a:t>
            </a:r>
          </a:p>
        </p:txBody>
      </p:sp>
      <p:sp>
        <p:nvSpPr>
          <p:cNvPr id="22" name="Rounded Rectangle 21"/>
          <p:cNvSpPr/>
          <p:nvPr/>
        </p:nvSpPr>
        <p:spPr>
          <a:xfrm>
            <a:off x="822960" y="4572000"/>
            <a:ext cx="4983480" cy="1024128"/>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69264" y="4681728"/>
            <a:ext cx="4690872" cy="274320"/>
          </a:xfrm>
          <a:prstGeom prst="rect">
            <a:avLst/>
          </a:prstGeom>
          <a:noFill/>
        </p:spPr>
        <p:txBody>
          <a:bodyPr wrap="square" anchor="t">
            <a:spAutoFit/>
          </a:bodyPr>
          <a:lstStyle/>
          <a:p>
            <a:pPr algn="l"/>
            <a:r>
              <a:rPr sz="1300" b="1">
                <a:solidFill>
                  <a:srgbClr val="704EA6"/>
                </a:solidFill>
                <a:latin typeface="Arial"/>
              </a:rPr>
              <a:t>DISPLAY / SYSTEM</a:t>
            </a:r>
          </a:p>
        </p:txBody>
      </p:sp>
      <p:sp>
        <p:nvSpPr>
          <p:cNvPr id="24" name="TextBox 23"/>
          <p:cNvSpPr txBox="1"/>
          <p:nvPr/>
        </p:nvSpPr>
        <p:spPr>
          <a:xfrm>
            <a:off x="969264" y="5010912"/>
            <a:ext cx="4690872" cy="493776"/>
          </a:xfrm>
          <a:prstGeom prst="rect">
            <a:avLst/>
          </a:prstGeom>
          <a:noFill/>
        </p:spPr>
        <p:txBody>
          <a:bodyPr wrap="square" anchor="t">
            <a:spAutoFit/>
          </a:bodyPr>
          <a:lstStyle/>
          <a:p>
            <a:pPr algn="l"/>
            <a:r>
              <a:rPr sz="1100" b="0">
                <a:solidFill>
                  <a:srgbClr val="63637E"/>
                </a:solidFill>
                <a:latin typeface="Calibri"/>
              </a:rPr>
              <a:t>Natural-language setting navigation</a:t>
            </a:r>
          </a:p>
        </p:txBody>
      </p:sp>
      <p:sp>
        <p:nvSpPr>
          <p:cNvPr id="25" name="Rounded Rectangle 24"/>
          <p:cNvSpPr/>
          <p:nvPr/>
        </p:nvSpPr>
        <p:spPr>
          <a:xfrm>
            <a:off x="6217920" y="4572000"/>
            <a:ext cx="4983480" cy="1024128"/>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64224" y="4681728"/>
            <a:ext cx="4690872" cy="274320"/>
          </a:xfrm>
          <a:prstGeom prst="rect">
            <a:avLst/>
          </a:prstGeom>
          <a:noFill/>
        </p:spPr>
        <p:txBody>
          <a:bodyPr wrap="square" anchor="t">
            <a:spAutoFit/>
          </a:bodyPr>
          <a:lstStyle/>
          <a:p>
            <a:pPr algn="l"/>
            <a:r>
              <a:rPr sz="1300" b="1">
                <a:solidFill>
                  <a:srgbClr val="704EA6"/>
                </a:solidFill>
                <a:latin typeface="Arial"/>
              </a:rPr>
              <a:t>HARDWARE DAMAGE</a:t>
            </a:r>
          </a:p>
        </p:txBody>
      </p:sp>
      <p:sp>
        <p:nvSpPr>
          <p:cNvPr id="27" name="TextBox 26"/>
          <p:cNvSpPr txBox="1"/>
          <p:nvPr/>
        </p:nvSpPr>
        <p:spPr>
          <a:xfrm>
            <a:off x="6364224" y="5010912"/>
            <a:ext cx="4690872" cy="493776"/>
          </a:xfrm>
          <a:prstGeom prst="rect">
            <a:avLst/>
          </a:prstGeom>
          <a:noFill/>
        </p:spPr>
        <p:txBody>
          <a:bodyPr wrap="square" anchor="t">
            <a:spAutoFit/>
          </a:bodyPr>
          <a:lstStyle/>
          <a:p>
            <a:pPr algn="l"/>
            <a:r>
              <a:rPr sz="1100" b="0">
                <a:solidFill>
                  <a:srgbClr val="63637E"/>
                </a:solidFill>
                <a:latin typeface="Calibri"/>
              </a:rPr>
              <a:t>Manual / appropriate handling instead of fabricated actions</a:t>
            </a:r>
          </a:p>
        </p:txBody>
      </p:sp>
      <p:sp>
        <p:nvSpPr>
          <p:cNvPr id="28" name="TextBox 27"/>
          <p:cNvSpPr txBox="1"/>
          <p:nvPr/>
        </p:nvSpPr>
        <p:spPr>
          <a:xfrm>
            <a:off x="822960" y="5870448"/>
            <a:ext cx="10241280" cy="274320"/>
          </a:xfrm>
          <a:prstGeom prst="rect">
            <a:avLst/>
          </a:prstGeom>
          <a:noFill/>
        </p:spPr>
        <p:txBody>
          <a:bodyPr wrap="square" anchor="t">
            <a:spAutoFit/>
          </a:bodyPr>
          <a:lstStyle/>
          <a:p>
            <a:pPr algn="ctr"/>
            <a:r>
              <a:rPr sz="1250" b="0">
                <a:solidFill>
                  <a:srgbClr val="63637E"/>
                </a:solidFill>
                <a:latin typeface="Calibri"/>
              </a:rPr>
              <a:t>Impact: reduce navigation friction while keeping troubleshooting grounded and actions verified.</a:t>
            </a:r>
          </a:p>
        </p:txBody>
      </p:sp>
      <p:sp>
        <p:nvSpPr>
          <p:cNvPr id="29" name="TextBox 28"/>
          <p:cNvSpPr txBox="1"/>
          <p:nvPr/>
        </p:nvSpPr>
        <p:spPr>
          <a:xfrm>
            <a:off x="10927080" y="6080760"/>
            <a:ext cx="411480" cy="228600"/>
          </a:xfrm>
          <a:prstGeom prst="rect">
            <a:avLst/>
          </a:prstGeom>
          <a:noFill/>
        </p:spPr>
        <p:txBody>
          <a:bodyPr wrap="square" anchor="t">
            <a:spAutoFit/>
          </a:bodyPr>
          <a:lstStyle/>
          <a:p>
            <a:pPr algn="r"/>
            <a:r>
              <a:rPr sz="900" b="0">
                <a:solidFill>
                  <a:srgbClr val="63637E"/>
                </a:solidFill>
                <a:latin typeface="Arial"/>
              </a:rPr>
              <a:t>6</a:t>
            </a:r>
          </a:p>
        </p:txBody>
      </p:sp>
    </p:spTree>
    <p:extLst>
      <p:ext uri="{BB962C8B-B14F-4D97-AF65-F5344CB8AC3E}">
        <p14:creationId xmlns:p14="http://schemas.microsoft.com/office/powerpoint/2010/main" val="3724828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wrap="square" anchor="t"/>
          <a:lstStyle/>
          <a:p>
            <a:pPr algn="l"/>
            <a:r>
              <a:rPr sz="2800" b="1">
                <a:solidFill>
                  <a:srgbClr val="704EA6"/>
                </a:solidFill>
                <a:latin typeface="Arial"/>
              </a:rPr>
              <a:t>Innovation Highlights, Results &amp; Limitations</a:t>
            </a:r>
            <a:endParaRPr lang="en-IN" b="1" dirty="0">
              <a:solidFill>
                <a:srgbClr val="704EA6"/>
              </a:solidFill>
            </a:endParaRPr>
          </a:p>
        </p:txBody>
      </p:sp>
      <p:sp>
        <p:nvSpPr>
          <p:cNvPr id="19" name="Rounded Rectangle 18"/>
          <p:cNvSpPr/>
          <p:nvPr/>
        </p:nvSpPr>
        <p:spPr>
          <a:xfrm>
            <a:off x="822960" y="2907792"/>
            <a:ext cx="3154680" cy="2240280"/>
          </a:xfrm>
          <a:prstGeom prst="roundRect">
            <a:avLst/>
          </a:prstGeom>
          <a:solidFill>
            <a:srgbClr val="F5F2FC"/>
          </a:solidFill>
          <a:ln w="12700">
            <a:solidFill>
              <a:srgbClr val="F5F2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51560" y="3136392"/>
            <a:ext cx="2560320" cy="292608"/>
          </a:xfrm>
          <a:prstGeom prst="rect">
            <a:avLst/>
          </a:prstGeom>
          <a:noFill/>
        </p:spPr>
        <p:txBody>
          <a:bodyPr wrap="square" anchor="t">
            <a:spAutoFit/>
          </a:bodyPr>
          <a:lstStyle/>
          <a:p>
            <a:pPr algn="l"/>
            <a:r>
              <a:rPr sz="1200" b="1">
                <a:solidFill>
                  <a:srgbClr val="6D28D9"/>
                </a:solidFill>
                <a:latin typeface="Arial"/>
              </a:rPr>
              <a:t>BROADER ROBUSTNESS</a:t>
            </a:r>
          </a:p>
        </p:txBody>
      </p:sp>
      <p:sp>
        <p:nvSpPr>
          <p:cNvPr id="21" name="TextBox 20"/>
          <p:cNvSpPr txBox="1"/>
          <p:nvPr/>
        </p:nvSpPr>
        <p:spPr>
          <a:xfrm>
            <a:off x="1051560" y="3493008"/>
            <a:ext cx="2560320" cy="548640"/>
          </a:xfrm>
          <a:prstGeom prst="rect">
            <a:avLst/>
          </a:prstGeom>
          <a:noFill/>
        </p:spPr>
        <p:txBody>
          <a:bodyPr wrap="square" anchor="t">
            <a:spAutoFit/>
          </a:bodyPr>
          <a:lstStyle/>
          <a:p>
            <a:pPr algn="l"/>
            <a:r>
              <a:rPr sz="1900" b="1">
                <a:solidFill>
                  <a:srgbClr val="14142B"/>
                </a:solidFill>
                <a:latin typeface="Arial"/>
              </a:rPr>
              <a:t>Validation snapshot</a:t>
            </a:r>
          </a:p>
        </p:txBody>
      </p:sp>
      <p:sp>
        <p:nvSpPr>
          <p:cNvPr id="22" name="TextBox 21"/>
          <p:cNvSpPr txBox="1"/>
          <p:nvPr/>
        </p:nvSpPr>
        <p:spPr>
          <a:xfrm>
            <a:off x="1051560" y="4096512"/>
            <a:ext cx="2560320" cy="594360"/>
          </a:xfrm>
          <a:prstGeom prst="rect">
            <a:avLst/>
          </a:prstGeom>
          <a:noFill/>
        </p:spPr>
        <p:txBody>
          <a:bodyPr wrap="square" anchor="t">
            <a:spAutoFit/>
          </a:bodyPr>
          <a:lstStyle/>
          <a:p>
            <a:pPr algn="l"/>
            <a:r>
              <a:rPr sz="1000">
                <a:solidFill>
                  <a:srgbClr val="63637E"/>
                </a:solidFill>
                <a:latin typeface="Calibri"/>
              </a:rPr>
              <a:t>Action match 58.54%  •  URI match 57.93%</a:t>
            </a:r>
          </a:p>
          <a:p>
            <a:r>
              <a:rPr sz="1000">
                <a:solidFill>
                  <a:srgbClr val="63637E"/>
                </a:solidFill>
                <a:latin typeface="Calibri"/>
              </a:rPr>
              <a:t>Polarity 86.90%  •  Held-out action 83.33%</a:t>
            </a:r>
          </a:p>
        </p:txBody>
      </p:sp>
      <p:sp>
        <p:nvSpPr>
          <p:cNvPr id="23" name="Rounded Rectangle 22"/>
          <p:cNvSpPr/>
          <p:nvPr/>
        </p:nvSpPr>
        <p:spPr>
          <a:xfrm>
            <a:off x="4187952" y="2907792"/>
            <a:ext cx="3154680" cy="2240280"/>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416552" y="3136392"/>
            <a:ext cx="2560320" cy="292608"/>
          </a:xfrm>
          <a:prstGeom prst="rect">
            <a:avLst/>
          </a:prstGeom>
          <a:noFill/>
        </p:spPr>
        <p:txBody>
          <a:bodyPr wrap="square" anchor="t">
            <a:spAutoFit/>
          </a:bodyPr>
          <a:lstStyle/>
          <a:p>
            <a:pPr algn="l"/>
            <a:r>
              <a:rPr sz="1200" b="1">
                <a:solidFill>
                  <a:srgbClr val="6D28D9"/>
                </a:solidFill>
                <a:latin typeface="Arial"/>
              </a:rPr>
              <a:t>PERFORMANCE</a:t>
            </a:r>
          </a:p>
        </p:txBody>
      </p:sp>
      <p:sp>
        <p:nvSpPr>
          <p:cNvPr id="25" name="TextBox 24"/>
          <p:cNvSpPr txBox="1"/>
          <p:nvPr/>
        </p:nvSpPr>
        <p:spPr>
          <a:xfrm>
            <a:off x="4416552" y="3493008"/>
            <a:ext cx="2560320" cy="411480"/>
          </a:xfrm>
          <a:prstGeom prst="rect">
            <a:avLst/>
          </a:prstGeom>
          <a:noFill/>
        </p:spPr>
        <p:txBody>
          <a:bodyPr wrap="square" anchor="t">
            <a:spAutoFit/>
          </a:bodyPr>
          <a:lstStyle/>
          <a:p>
            <a:pPr algn="l"/>
            <a:r>
              <a:rPr sz="2300" b="1">
                <a:solidFill>
                  <a:srgbClr val="14142B"/>
                </a:solidFill>
                <a:latin typeface="Arial"/>
              </a:rPr>
              <a:t>615.84 ms</a:t>
            </a:r>
          </a:p>
        </p:txBody>
      </p:sp>
      <p:sp>
        <p:nvSpPr>
          <p:cNvPr id="26" name="TextBox 25"/>
          <p:cNvSpPr txBox="1"/>
          <p:nvPr/>
        </p:nvSpPr>
        <p:spPr>
          <a:xfrm>
            <a:off x="4416552" y="3886200"/>
            <a:ext cx="2560320" cy="274320"/>
          </a:xfrm>
          <a:prstGeom prst="rect">
            <a:avLst/>
          </a:prstGeom>
          <a:noFill/>
        </p:spPr>
        <p:txBody>
          <a:bodyPr wrap="square" anchor="t">
            <a:spAutoFit/>
          </a:bodyPr>
          <a:lstStyle/>
          <a:p>
            <a:pPr algn="l"/>
            <a:r>
              <a:rPr sz="1100" b="0">
                <a:solidFill>
                  <a:srgbClr val="63637E"/>
                </a:solidFill>
                <a:latin typeface="Arial"/>
              </a:rPr>
              <a:t>Cold latency</a:t>
            </a:r>
          </a:p>
        </p:txBody>
      </p:sp>
      <p:sp>
        <p:nvSpPr>
          <p:cNvPr id="27" name="TextBox 26"/>
          <p:cNvSpPr txBox="1"/>
          <p:nvPr/>
        </p:nvSpPr>
        <p:spPr>
          <a:xfrm>
            <a:off x="4416552" y="4315968"/>
            <a:ext cx="2560320" cy="411480"/>
          </a:xfrm>
          <a:prstGeom prst="rect">
            <a:avLst/>
          </a:prstGeom>
          <a:noFill/>
        </p:spPr>
        <p:txBody>
          <a:bodyPr wrap="square" anchor="t">
            <a:spAutoFit/>
          </a:bodyPr>
          <a:lstStyle/>
          <a:p>
            <a:pPr algn="l"/>
            <a:r>
              <a:rPr sz="2300" b="1">
                <a:solidFill>
                  <a:srgbClr val="14142B"/>
                </a:solidFill>
                <a:latin typeface="Arial"/>
              </a:rPr>
              <a:t>~0.35 ms</a:t>
            </a:r>
          </a:p>
        </p:txBody>
      </p:sp>
      <p:sp>
        <p:nvSpPr>
          <p:cNvPr id="28" name="TextBox 27"/>
          <p:cNvSpPr txBox="1"/>
          <p:nvPr/>
        </p:nvSpPr>
        <p:spPr>
          <a:xfrm>
            <a:off x="4416552" y="4709160"/>
            <a:ext cx="2560320" cy="274320"/>
          </a:xfrm>
          <a:prstGeom prst="rect">
            <a:avLst/>
          </a:prstGeom>
          <a:noFill/>
        </p:spPr>
        <p:txBody>
          <a:bodyPr wrap="square" anchor="t">
            <a:spAutoFit/>
          </a:bodyPr>
          <a:lstStyle/>
          <a:p>
            <a:pPr algn="l"/>
            <a:r>
              <a:rPr sz="1100" b="0">
                <a:solidFill>
                  <a:srgbClr val="63637E"/>
                </a:solidFill>
                <a:latin typeface="Arial"/>
              </a:rPr>
              <a:t>Repeat P95 • cache hit verified</a:t>
            </a:r>
          </a:p>
        </p:txBody>
      </p:sp>
      <p:sp>
        <p:nvSpPr>
          <p:cNvPr id="29" name="Rounded Rectangle 28"/>
          <p:cNvSpPr/>
          <p:nvPr/>
        </p:nvSpPr>
        <p:spPr>
          <a:xfrm>
            <a:off x="7552944" y="2907792"/>
            <a:ext cx="3154680" cy="2240280"/>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772400" y="3136392"/>
            <a:ext cx="2560320" cy="292608"/>
          </a:xfrm>
          <a:prstGeom prst="rect">
            <a:avLst/>
          </a:prstGeom>
          <a:noFill/>
        </p:spPr>
        <p:txBody>
          <a:bodyPr wrap="square" anchor="t">
            <a:spAutoFit/>
          </a:bodyPr>
          <a:lstStyle/>
          <a:p>
            <a:pPr algn="l"/>
            <a:r>
              <a:rPr sz="1200" b="1">
                <a:solidFill>
                  <a:srgbClr val="B42D41"/>
                </a:solidFill>
                <a:latin typeface="Arial"/>
              </a:rPr>
              <a:t>LIMITATIONS</a:t>
            </a:r>
          </a:p>
        </p:txBody>
      </p:sp>
      <p:sp>
        <p:nvSpPr>
          <p:cNvPr id="31" name="TextBox 30"/>
          <p:cNvSpPr txBox="1"/>
          <p:nvPr/>
        </p:nvSpPr>
        <p:spPr>
          <a:xfrm>
            <a:off x="7772400" y="3547872"/>
            <a:ext cx="2560320" cy="1325880"/>
          </a:xfrm>
          <a:prstGeom prst="rect">
            <a:avLst/>
          </a:prstGeom>
          <a:noFill/>
        </p:spPr>
        <p:txBody>
          <a:bodyPr wrap="square">
            <a:spAutoFit/>
          </a:bodyPr>
          <a:lstStyle/>
          <a:p>
            <a:pPr>
              <a:spcAft>
                <a:spcPts val="500"/>
              </a:spcAft>
              <a:defRPr sz="1200">
                <a:solidFill>
                  <a:srgbClr val="63637E"/>
                </a:solidFill>
                <a:latin typeface="Calibri"/>
              </a:defRPr>
            </a:pPr>
            <a:r>
              <a:t>• Retrieval misses</a:t>
            </a:r>
          </a:p>
          <a:p>
            <a:pPr>
              <a:spcAft>
                <a:spcPts val="500"/>
              </a:spcAft>
              <a:defRPr sz="1200">
                <a:solidFill>
                  <a:srgbClr val="63637E"/>
                </a:solidFill>
                <a:latin typeface="Calibri"/>
              </a:defRPr>
            </a:pPr>
            <a:r>
              <a:t>• Similar-action ambiguity</a:t>
            </a:r>
          </a:p>
          <a:p>
            <a:pPr>
              <a:spcAft>
                <a:spcPts val="500"/>
              </a:spcAft>
              <a:defRPr sz="1200">
                <a:solidFill>
                  <a:srgbClr val="63637E"/>
                </a:solidFill>
                <a:latin typeface="Calibri"/>
              </a:defRPr>
            </a:pPr>
            <a:r>
              <a:t>• Bounded by supplied SIIS + catalog</a:t>
            </a:r>
          </a:p>
        </p:txBody>
      </p:sp>
      <p:sp>
        <p:nvSpPr>
          <p:cNvPr id="32" name="TextBox 31"/>
          <p:cNvSpPr txBox="1"/>
          <p:nvPr/>
        </p:nvSpPr>
        <p:spPr>
          <a:xfrm>
            <a:off x="868680" y="5532120"/>
            <a:ext cx="9966960" cy="384048"/>
          </a:xfrm>
          <a:prstGeom prst="rect">
            <a:avLst/>
          </a:prstGeom>
          <a:noFill/>
        </p:spPr>
        <p:txBody>
          <a:bodyPr wrap="square" anchor="t">
            <a:spAutoFit/>
          </a:bodyPr>
          <a:lstStyle/>
          <a:p>
            <a:pPr algn="ctr"/>
            <a:r>
              <a:rPr sz="1200" b="0">
                <a:solidFill>
                  <a:srgbClr val="63637E"/>
                </a:solidFill>
                <a:latin typeface="Calibri"/>
              </a:rPr>
              <a:t>TARGETED REASONING  •  0 false Gemini corrections across tested configurations</a:t>
            </a:r>
          </a:p>
        </p:txBody>
      </p:sp>
      <p:sp>
        <p:nvSpPr>
          <p:cNvPr id="33" name="TextBox 32"/>
          <p:cNvSpPr txBox="1"/>
          <p:nvPr/>
        </p:nvSpPr>
        <p:spPr>
          <a:xfrm>
            <a:off x="10927080" y="6080760"/>
            <a:ext cx="411480" cy="228600"/>
          </a:xfrm>
          <a:prstGeom prst="rect">
            <a:avLst/>
          </a:prstGeom>
          <a:noFill/>
        </p:spPr>
        <p:txBody>
          <a:bodyPr wrap="square" anchor="t">
            <a:spAutoFit/>
          </a:bodyPr>
          <a:lstStyle/>
          <a:p>
            <a:pPr algn="r"/>
            <a:r>
              <a:rPr sz="900" b="0">
                <a:solidFill>
                  <a:srgbClr val="63637E"/>
                </a:solidFill>
                <a:latin typeface="Arial"/>
              </a:rPr>
              <a:t>7</a:t>
            </a:r>
          </a:p>
        </p:txBody>
      </p:sp>
      <p:sp>
        <p:nvSpPr>
          <p:cNvPr id="34" name="Rounded Rectangle 33"/>
          <p:cNvSpPr/>
          <p:nvPr/>
        </p:nvSpPr>
        <p:spPr>
          <a:xfrm>
            <a:off x="297180" y="1417320"/>
            <a:ext cx="1664208" cy="868680"/>
          </a:xfrm>
          <a:prstGeom prst="roundRect">
            <a:avLst/>
          </a:prstGeom>
          <a:solidFill>
            <a:srgbClr val="FFFFFF"/>
          </a:solidFill>
          <a:ln w="10160">
            <a:solidFill>
              <a:srgbClr val="E7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88620" y="1490472"/>
            <a:ext cx="1641347" cy="276999"/>
          </a:xfrm>
          <a:prstGeom prst="rect">
            <a:avLst/>
          </a:prstGeom>
          <a:noFill/>
        </p:spPr>
        <p:txBody>
          <a:bodyPr wrap="none">
            <a:spAutoFit/>
          </a:bodyPr>
          <a:lstStyle/>
          <a:p>
            <a:pPr algn="l"/>
            <a:r>
              <a:rPr sz="1200" b="1" dirty="0">
                <a:solidFill>
                  <a:srgbClr val="14142B"/>
                </a:solidFill>
                <a:latin typeface="Arial"/>
              </a:rPr>
              <a:t>Validation snapshot</a:t>
            </a:r>
          </a:p>
        </p:txBody>
      </p:sp>
      <p:sp>
        <p:nvSpPr>
          <p:cNvPr id="36" name="TextBox 35"/>
          <p:cNvSpPr txBox="1"/>
          <p:nvPr/>
        </p:nvSpPr>
        <p:spPr>
          <a:xfrm>
            <a:off x="388620" y="1847088"/>
            <a:ext cx="1481328" cy="347472"/>
          </a:xfrm>
          <a:prstGeom prst="rect">
            <a:avLst/>
          </a:prstGeom>
          <a:noFill/>
        </p:spPr>
        <p:txBody>
          <a:bodyPr wrap="none">
            <a:spAutoFit/>
          </a:bodyPr>
          <a:lstStyle/>
          <a:p>
            <a:pPr algn="l"/>
            <a:r>
              <a:rPr sz="950">
                <a:solidFill>
                  <a:srgbClr val="63637E"/>
                </a:solidFill>
                <a:latin typeface="Calibri"/>
              </a:rPr>
              <a:t>Official evaluator</a:t>
            </a:r>
          </a:p>
        </p:txBody>
      </p:sp>
      <p:sp>
        <p:nvSpPr>
          <p:cNvPr id="37" name="Rounded Rectangle 36"/>
          <p:cNvSpPr/>
          <p:nvPr/>
        </p:nvSpPr>
        <p:spPr>
          <a:xfrm>
            <a:off x="2034540" y="1417320"/>
            <a:ext cx="1664208" cy="868680"/>
          </a:xfrm>
          <a:prstGeom prst="roundRect">
            <a:avLst/>
          </a:prstGeom>
          <a:solidFill>
            <a:srgbClr val="FFFFFF"/>
          </a:solidFill>
          <a:ln w="10160">
            <a:solidFill>
              <a:srgbClr val="E7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125980" y="1490472"/>
            <a:ext cx="1481328" cy="320040"/>
          </a:xfrm>
          <a:prstGeom prst="rect">
            <a:avLst/>
          </a:prstGeom>
          <a:noFill/>
        </p:spPr>
        <p:txBody>
          <a:bodyPr wrap="none">
            <a:spAutoFit/>
          </a:bodyPr>
          <a:lstStyle/>
          <a:p>
            <a:pPr algn="l"/>
            <a:r>
              <a:rPr sz="2400" b="1">
                <a:solidFill>
                  <a:srgbClr val="6D28D9"/>
                </a:solidFill>
                <a:latin typeface="Arial"/>
              </a:rPr>
              <a:t>27 / 27</a:t>
            </a:r>
          </a:p>
        </p:txBody>
      </p:sp>
      <p:sp>
        <p:nvSpPr>
          <p:cNvPr id="39" name="TextBox 38"/>
          <p:cNvSpPr txBox="1"/>
          <p:nvPr/>
        </p:nvSpPr>
        <p:spPr>
          <a:xfrm>
            <a:off x="2125980" y="1847088"/>
            <a:ext cx="1481328" cy="347472"/>
          </a:xfrm>
          <a:prstGeom prst="rect">
            <a:avLst/>
          </a:prstGeom>
          <a:noFill/>
        </p:spPr>
        <p:txBody>
          <a:bodyPr wrap="none">
            <a:spAutoFit/>
          </a:bodyPr>
          <a:lstStyle/>
          <a:p>
            <a:pPr algn="l"/>
            <a:r>
              <a:rPr sz="950">
                <a:solidFill>
                  <a:srgbClr val="63637E"/>
                </a:solidFill>
                <a:latin typeface="Calibri"/>
              </a:rPr>
              <a:t>Security tests</a:t>
            </a:r>
          </a:p>
        </p:txBody>
      </p:sp>
      <p:sp>
        <p:nvSpPr>
          <p:cNvPr id="40" name="Rounded Rectangle 39"/>
          <p:cNvSpPr/>
          <p:nvPr/>
        </p:nvSpPr>
        <p:spPr>
          <a:xfrm>
            <a:off x="3771900" y="1417320"/>
            <a:ext cx="1664208" cy="868680"/>
          </a:xfrm>
          <a:prstGeom prst="roundRect">
            <a:avLst/>
          </a:prstGeom>
          <a:solidFill>
            <a:srgbClr val="FFFFFF"/>
          </a:solidFill>
          <a:ln w="10160">
            <a:solidFill>
              <a:srgbClr val="E7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863340" y="1490472"/>
            <a:ext cx="1481328" cy="320040"/>
          </a:xfrm>
          <a:prstGeom prst="rect">
            <a:avLst/>
          </a:prstGeom>
          <a:noFill/>
        </p:spPr>
        <p:txBody>
          <a:bodyPr wrap="none">
            <a:spAutoFit/>
          </a:bodyPr>
          <a:lstStyle/>
          <a:p>
            <a:pPr algn="l"/>
            <a:r>
              <a:rPr sz="2400" b="1">
                <a:solidFill>
                  <a:srgbClr val="6D28D9"/>
                </a:solidFill>
                <a:latin typeface="Arial"/>
              </a:rPr>
              <a:t>100%</a:t>
            </a:r>
          </a:p>
        </p:txBody>
      </p:sp>
      <p:sp>
        <p:nvSpPr>
          <p:cNvPr id="42" name="TextBox 41"/>
          <p:cNvSpPr txBox="1"/>
          <p:nvPr/>
        </p:nvSpPr>
        <p:spPr>
          <a:xfrm>
            <a:off x="3863340" y="1847088"/>
            <a:ext cx="1481328" cy="347472"/>
          </a:xfrm>
          <a:prstGeom prst="rect">
            <a:avLst/>
          </a:prstGeom>
          <a:noFill/>
        </p:spPr>
        <p:txBody>
          <a:bodyPr wrap="none">
            <a:spAutoFit/>
          </a:bodyPr>
          <a:lstStyle/>
          <a:p>
            <a:pPr algn="l"/>
            <a:r>
              <a:rPr sz="950">
                <a:solidFill>
                  <a:srgbClr val="63637E"/>
                </a:solidFill>
                <a:latin typeface="Calibri"/>
              </a:rPr>
              <a:t>Hardware safety</a:t>
            </a:r>
          </a:p>
        </p:txBody>
      </p:sp>
      <p:sp>
        <p:nvSpPr>
          <p:cNvPr id="43" name="Rounded Rectangle 42"/>
          <p:cNvSpPr/>
          <p:nvPr/>
        </p:nvSpPr>
        <p:spPr>
          <a:xfrm>
            <a:off x="5509260" y="1417320"/>
            <a:ext cx="1664208" cy="868680"/>
          </a:xfrm>
          <a:prstGeom prst="roundRect">
            <a:avLst/>
          </a:prstGeom>
          <a:solidFill>
            <a:srgbClr val="FFFFFF"/>
          </a:solidFill>
          <a:ln w="10160">
            <a:solidFill>
              <a:srgbClr val="E7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600700" y="1490472"/>
            <a:ext cx="1481328" cy="320040"/>
          </a:xfrm>
          <a:prstGeom prst="rect">
            <a:avLst/>
          </a:prstGeom>
          <a:noFill/>
        </p:spPr>
        <p:txBody>
          <a:bodyPr wrap="none">
            <a:spAutoFit/>
          </a:bodyPr>
          <a:lstStyle/>
          <a:p>
            <a:pPr algn="l"/>
            <a:r>
              <a:rPr sz="2400" b="1">
                <a:solidFill>
                  <a:srgbClr val="6D28D9"/>
                </a:solidFill>
                <a:latin typeface="Arial"/>
              </a:rPr>
              <a:t>16 / 16</a:t>
            </a:r>
          </a:p>
        </p:txBody>
      </p:sp>
      <p:sp>
        <p:nvSpPr>
          <p:cNvPr id="45" name="TextBox 44"/>
          <p:cNvSpPr txBox="1"/>
          <p:nvPr/>
        </p:nvSpPr>
        <p:spPr>
          <a:xfrm>
            <a:off x="5600700" y="1847088"/>
            <a:ext cx="1481328" cy="347472"/>
          </a:xfrm>
          <a:prstGeom prst="rect">
            <a:avLst/>
          </a:prstGeom>
          <a:noFill/>
        </p:spPr>
        <p:txBody>
          <a:bodyPr wrap="none">
            <a:spAutoFit/>
          </a:bodyPr>
          <a:lstStyle/>
          <a:p>
            <a:pPr algn="l"/>
            <a:r>
              <a:rPr sz="950">
                <a:solidFill>
                  <a:srgbClr val="63637E"/>
                </a:solidFill>
                <a:latin typeface="Calibri"/>
              </a:rPr>
              <a:t>Gemini validation</a:t>
            </a:r>
          </a:p>
        </p:txBody>
      </p:sp>
      <p:sp>
        <p:nvSpPr>
          <p:cNvPr id="46" name="Rounded Rectangle 45"/>
          <p:cNvSpPr/>
          <p:nvPr/>
        </p:nvSpPr>
        <p:spPr>
          <a:xfrm>
            <a:off x="7246620" y="1417320"/>
            <a:ext cx="1664208" cy="868680"/>
          </a:xfrm>
          <a:prstGeom prst="roundRect">
            <a:avLst/>
          </a:prstGeom>
          <a:solidFill>
            <a:srgbClr val="FFFFFF"/>
          </a:solidFill>
          <a:ln w="10160">
            <a:solidFill>
              <a:srgbClr val="E7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338060" y="1490472"/>
            <a:ext cx="1481328" cy="320040"/>
          </a:xfrm>
          <a:prstGeom prst="rect">
            <a:avLst/>
          </a:prstGeom>
          <a:noFill/>
        </p:spPr>
        <p:txBody>
          <a:bodyPr wrap="none">
            <a:spAutoFit/>
          </a:bodyPr>
          <a:lstStyle/>
          <a:p>
            <a:pPr algn="l"/>
            <a:r>
              <a:rPr sz="2400" b="1">
                <a:solidFill>
                  <a:srgbClr val="6D28D9"/>
                </a:solidFill>
                <a:latin typeface="Arial"/>
              </a:rPr>
              <a:t>28 / 28</a:t>
            </a:r>
          </a:p>
        </p:txBody>
      </p:sp>
      <p:sp>
        <p:nvSpPr>
          <p:cNvPr id="48" name="TextBox 47"/>
          <p:cNvSpPr txBox="1"/>
          <p:nvPr/>
        </p:nvSpPr>
        <p:spPr>
          <a:xfrm>
            <a:off x="7338060" y="1847088"/>
            <a:ext cx="1481328" cy="347472"/>
          </a:xfrm>
          <a:prstGeom prst="rect">
            <a:avLst/>
          </a:prstGeom>
          <a:noFill/>
        </p:spPr>
        <p:txBody>
          <a:bodyPr wrap="none">
            <a:spAutoFit/>
          </a:bodyPr>
          <a:lstStyle/>
          <a:p>
            <a:pPr algn="l"/>
            <a:r>
              <a:rPr sz="950">
                <a:solidFill>
                  <a:srgbClr val="63637E"/>
                </a:solidFill>
                <a:latin typeface="Calibri"/>
              </a:rPr>
              <a:t>Targeted top-15 cases</a:t>
            </a:r>
          </a:p>
        </p:txBody>
      </p:sp>
    </p:spTree>
    <p:extLst>
      <p:ext uri="{BB962C8B-B14F-4D97-AF65-F5344CB8AC3E}">
        <p14:creationId xmlns:p14="http://schemas.microsoft.com/office/powerpoint/2010/main" val="3668119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wrap="square" anchor="t"/>
          <a:lstStyle/>
          <a:p>
            <a:pPr algn="l">
              <a:spcAft>
                <a:spcPts val="500"/>
              </a:spcAft>
              <a:buSzPct val="100000"/>
            </a:pPr>
            <a:r>
              <a:rPr sz="2800" b="1">
                <a:solidFill>
                  <a:srgbClr val="704EA6"/>
                </a:solidFill>
                <a:latin typeface="Arial"/>
              </a:rPr>
              <a:t>What’s Next</a:t>
            </a:r>
            <a:endParaRPr lang="en-US" sz="4400" b="1" dirty="0">
              <a:solidFill>
                <a:srgbClr val="704EA6"/>
              </a:solidFill>
            </a:endParaRPr>
          </a:p>
        </p:txBody>
      </p:sp>
      <p:sp>
        <p:nvSpPr>
          <p:cNvPr id="4" name="Rounded Rectangle 3"/>
          <p:cNvSpPr/>
          <p:nvPr/>
        </p:nvSpPr>
        <p:spPr>
          <a:xfrm>
            <a:off x="868680" y="1554480"/>
            <a:ext cx="3154680" cy="310896"/>
          </a:xfrm>
          <a:prstGeom prst="roundRect">
            <a:avLst/>
          </a:prstGeom>
          <a:solidFill>
            <a:srgbClr val="6D28D9"/>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Arial"/>
              </a:rPr>
              <a:t>AFTER PROJECT SUBMISSION / FUTURE DIRECTION</a:t>
            </a:r>
          </a:p>
        </p:txBody>
      </p:sp>
      <p:sp>
        <p:nvSpPr>
          <p:cNvPr id="5" name="TextBox 4"/>
          <p:cNvSpPr txBox="1"/>
          <p:nvPr/>
        </p:nvSpPr>
        <p:spPr>
          <a:xfrm>
            <a:off x="868680" y="2057400"/>
            <a:ext cx="438912" cy="384048"/>
          </a:xfrm>
          <a:prstGeom prst="rect">
            <a:avLst/>
          </a:prstGeom>
          <a:noFill/>
        </p:spPr>
        <p:txBody>
          <a:bodyPr wrap="square" anchor="t">
            <a:spAutoFit/>
          </a:bodyPr>
          <a:lstStyle/>
          <a:p>
            <a:pPr algn="l"/>
            <a:r>
              <a:rPr sz="1400" b="1">
                <a:solidFill>
                  <a:srgbClr val="6D28D9"/>
                </a:solidFill>
                <a:latin typeface="Arial"/>
              </a:rPr>
              <a:t>01</a:t>
            </a:r>
          </a:p>
        </p:txBody>
      </p:sp>
      <p:sp>
        <p:nvSpPr>
          <p:cNvPr id="6" name="TextBox 5"/>
          <p:cNvSpPr txBox="1"/>
          <p:nvPr/>
        </p:nvSpPr>
        <p:spPr>
          <a:xfrm>
            <a:off x="1399031" y="2057400"/>
            <a:ext cx="2011680" cy="320040"/>
          </a:xfrm>
          <a:prstGeom prst="rect">
            <a:avLst/>
          </a:prstGeom>
          <a:noFill/>
        </p:spPr>
        <p:txBody>
          <a:bodyPr wrap="square" anchor="t">
            <a:spAutoFit/>
          </a:bodyPr>
          <a:lstStyle/>
          <a:p>
            <a:pPr algn="l"/>
            <a:r>
              <a:rPr sz="1400" b="1">
                <a:solidFill>
                  <a:srgbClr val="14142B"/>
                </a:solidFill>
                <a:latin typeface="Arial"/>
              </a:rPr>
              <a:t>Broader knowledge</a:t>
            </a:r>
          </a:p>
        </p:txBody>
      </p:sp>
      <p:sp>
        <p:nvSpPr>
          <p:cNvPr id="7" name="TextBox 6"/>
          <p:cNvSpPr txBox="1"/>
          <p:nvPr/>
        </p:nvSpPr>
        <p:spPr>
          <a:xfrm>
            <a:off x="1399031" y="2395728"/>
            <a:ext cx="4297680" cy="566928"/>
          </a:xfrm>
          <a:prstGeom prst="rect">
            <a:avLst/>
          </a:prstGeom>
          <a:noFill/>
        </p:spPr>
        <p:txBody>
          <a:bodyPr wrap="square" anchor="t">
            <a:spAutoFit/>
          </a:bodyPr>
          <a:lstStyle/>
          <a:p>
            <a:pPr algn="l"/>
            <a:r>
              <a:rPr sz="1080" b="0">
                <a:solidFill>
                  <a:srgbClr val="63637E"/>
                </a:solidFill>
                <a:latin typeface="Calibri"/>
              </a:rPr>
              <a:t>Extend beyond the hackathon scenario set using broader Samsung troubleshooting knowledge.</a:t>
            </a:r>
          </a:p>
        </p:txBody>
      </p:sp>
      <p:sp>
        <p:nvSpPr>
          <p:cNvPr id="8" name="TextBox 7"/>
          <p:cNvSpPr txBox="1"/>
          <p:nvPr/>
        </p:nvSpPr>
        <p:spPr>
          <a:xfrm>
            <a:off x="6035040" y="2057400"/>
            <a:ext cx="438912" cy="384048"/>
          </a:xfrm>
          <a:prstGeom prst="rect">
            <a:avLst/>
          </a:prstGeom>
          <a:noFill/>
        </p:spPr>
        <p:txBody>
          <a:bodyPr wrap="square" anchor="t">
            <a:spAutoFit/>
          </a:bodyPr>
          <a:lstStyle/>
          <a:p>
            <a:pPr algn="l"/>
            <a:r>
              <a:rPr sz="1400" b="1">
                <a:solidFill>
                  <a:srgbClr val="6D28D9"/>
                </a:solidFill>
                <a:latin typeface="Arial"/>
              </a:rPr>
              <a:t>02</a:t>
            </a:r>
          </a:p>
        </p:txBody>
      </p:sp>
      <p:sp>
        <p:nvSpPr>
          <p:cNvPr id="9" name="TextBox 8"/>
          <p:cNvSpPr txBox="1"/>
          <p:nvPr/>
        </p:nvSpPr>
        <p:spPr>
          <a:xfrm>
            <a:off x="6565392" y="2057400"/>
            <a:ext cx="2011680" cy="320040"/>
          </a:xfrm>
          <a:prstGeom prst="rect">
            <a:avLst/>
          </a:prstGeom>
          <a:noFill/>
        </p:spPr>
        <p:txBody>
          <a:bodyPr wrap="square" anchor="t">
            <a:spAutoFit/>
          </a:bodyPr>
          <a:lstStyle/>
          <a:p>
            <a:pPr algn="l"/>
            <a:r>
              <a:rPr sz="1400" b="1">
                <a:solidFill>
                  <a:srgbClr val="14142B"/>
                </a:solidFill>
                <a:latin typeface="Arial"/>
              </a:rPr>
              <a:t>Catalog coverage</a:t>
            </a:r>
          </a:p>
        </p:txBody>
      </p:sp>
      <p:sp>
        <p:nvSpPr>
          <p:cNvPr id="10" name="TextBox 9"/>
          <p:cNvSpPr txBox="1"/>
          <p:nvPr/>
        </p:nvSpPr>
        <p:spPr>
          <a:xfrm>
            <a:off x="6565392" y="2395728"/>
            <a:ext cx="4297680" cy="566928"/>
          </a:xfrm>
          <a:prstGeom prst="rect">
            <a:avLst/>
          </a:prstGeom>
          <a:noFill/>
        </p:spPr>
        <p:txBody>
          <a:bodyPr wrap="square" anchor="t">
            <a:spAutoFit/>
          </a:bodyPr>
          <a:lstStyle/>
          <a:p>
            <a:pPr algn="l"/>
            <a:r>
              <a:rPr sz="1080" b="0">
                <a:solidFill>
                  <a:srgbClr val="63637E"/>
                </a:solidFill>
                <a:latin typeface="Calibri"/>
              </a:rPr>
              <a:t>Improve resolution when multiple catalog actions are semantically similar.</a:t>
            </a:r>
          </a:p>
        </p:txBody>
      </p:sp>
      <p:sp>
        <p:nvSpPr>
          <p:cNvPr id="11" name="TextBox 10"/>
          <p:cNvSpPr txBox="1"/>
          <p:nvPr/>
        </p:nvSpPr>
        <p:spPr>
          <a:xfrm>
            <a:off x="868680" y="3172968"/>
            <a:ext cx="438912" cy="384048"/>
          </a:xfrm>
          <a:prstGeom prst="rect">
            <a:avLst/>
          </a:prstGeom>
          <a:noFill/>
        </p:spPr>
        <p:txBody>
          <a:bodyPr wrap="square" anchor="t">
            <a:spAutoFit/>
          </a:bodyPr>
          <a:lstStyle/>
          <a:p>
            <a:pPr algn="l"/>
            <a:r>
              <a:rPr sz="1400" b="1">
                <a:solidFill>
                  <a:srgbClr val="6D28D9"/>
                </a:solidFill>
                <a:latin typeface="Arial"/>
              </a:rPr>
              <a:t>03</a:t>
            </a:r>
          </a:p>
        </p:txBody>
      </p:sp>
      <p:sp>
        <p:nvSpPr>
          <p:cNvPr id="12" name="TextBox 11"/>
          <p:cNvSpPr txBox="1"/>
          <p:nvPr/>
        </p:nvSpPr>
        <p:spPr>
          <a:xfrm>
            <a:off x="1399031" y="3172968"/>
            <a:ext cx="2011680" cy="320040"/>
          </a:xfrm>
          <a:prstGeom prst="rect">
            <a:avLst/>
          </a:prstGeom>
          <a:noFill/>
        </p:spPr>
        <p:txBody>
          <a:bodyPr wrap="square" anchor="t">
            <a:spAutoFit/>
          </a:bodyPr>
          <a:lstStyle/>
          <a:p>
            <a:pPr algn="l"/>
            <a:r>
              <a:rPr sz="1400" b="1">
                <a:solidFill>
                  <a:srgbClr val="14142B"/>
                </a:solidFill>
                <a:latin typeface="Arial"/>
              </a:rPr>
              <a:t>Generalization</a:t>
            </a:r>
          </a:p>
        </p:txBody>
      </p:sp>
      <p:sp>
        <p:nvSpPr>
          <p:cNvPr id="13" name="TextBox 12"/>
          <p:cNvSpPr txBox="1"/>
          <p:nvPr/>
        </p:nvSpPr>
        <p:spPr>
          <a:xfrm>
            <a:off x="1399031" y="3511296"/>
            <a:ext cx="4297680" cy="566928"/>
          </a:xfrm>
          <a:prstGeom prst="rect">
            <a:avLst/>
          </a:prstGeom>
          <a:noFill/>
        </p:spPr>
        <p:txBody>
          <a:bodyPr wrap="square" anchor="t">
            <a:spAutoFit/>
          </a:bodyPr>
          <a:lstStyle/>
          <a:p>
            <a:pPr algn="l"/>
            <a:r>
              <a:rPr sz="1080" b="0">
                <a:solidFill>
                  <a:srgbClr val="63637E"/>
                </a:solidFill>
                <a:latin typeface="Calibri"/>
              </a:rPr>
              <a:t>Handle uncommon phrasing, multi-part requests and additional device categories.</a:t>
            </a:r>
          </a:p>
        </p:txBody>
      </p:sp>
      <p:sp>
        <p:nvSpPr>
          <p:cNvPr id="14" name="TextBox 13"/>
          <p:cNvSpPr txBox="1"/>
          <p:nvPr/>
        </p:nvSpPr>
        <p:spPr>
          <a:xfrm>
            <a:off x="6035040" y="3172968"/>
            <a:ext cx="438912" cy="384048"/>
          </a:xfrm>
          <a:prstGeom prst="rect">
            <a:avLst/>
          </a:prstGeom>
          <a:noFill/>
        </p:spPr>
        <p:txBody>
          <a:bodyPr wrap="square" anchor="t">
            <a:spAutoFit/>
          </a:bodyPr>
          <a:lstStyle/>
          <a:p>
            <a:pPr algn="l"/>
            <a:r>
              <a:rPr sz="1400" b="1">
                <a:solidFill>
                  <a:srgbClr val="6D28D9"/>
                </a:solidFill>
                <a:latin typeface="Arial"/>
              </a:rPr>
              <a:t>04</a:t>
            </a:r>
          </a:p>
        </p:txBody>
      </p:sp>
      <p:sp>
        <p:nvSpPr>
          <p:cNvPr id="15" name="TextBox 14"/>
          <p:cNvSpPr txBox="1"/>
          <p:nvPr/>
        </p:nvSpPr>
        <p:spPr>
          <a:xfrm>
            <a:off x="6565392" y="3172968"/>
            <a:ext cx="2011680" cy="320040"/>
          </a:xfrm>
          <a:prstGeom prst="rect">
            <a:avLst/>
          </a:prstGeom>
          <a:noFill/>
        </p:spPr>
        <p:txBody>
          <a:bodyPr wrap="square" anchor="t">
            <a:spAutoFit/>
          </a:bodyPr>
          <a:lstStyle/>
          <a:p>
            <a:pPr algn="l"/>
            <a:r>
              <a:rPr sz="1400" b="1">
                <a:solidFill>
                  <a:srgbClr val="14142B"/>
                </a:solidFill>
                <a:latin typeface="Arial"/>
              </a:rPr>
              <a:t>Real-device integration</a:t>
            </a:r>
          </a:p>
        </p:txBody>
      </p:sp>
      <p:sp>
        <p:nvSpPr>
          <p:cNvPr id="16" name="TextBox 15"/>
          <p:cNvSpPr txBox="1"/>
          <p:nvPr/>
        </p:nvSpPr>
        <p:spPr>
          <a:xfrm>
            <a:off x="6565392" y="3511296"/>
            <a:ext cx="4297680" cy="566928"/>
          </a:xfrm>
          <a:prstGeom prst="rect">
            <a:avLst/>
          </a:prstGeom>
          <a:noFill/>
        </p:spPr>
        <p:txBody>
          <a:bodyPr wrap="square" anchor="t">
            <a:spAutoFit/>
          </a:bodyPr>
          <a:lstStyle/>
          <a:p>
            <a:pPr algn="l"/>
            <a:r>
              <a:rPr sz="1080" b="0">
                <a:solidFill>
                  <a:srgbClr val="63637E"/>
                </a:solidFill>
                <a:latin typeface="Calibri"/>
              </a:rPr>
              <a:t>Explore production-grade Samsung integration for verified actions.</a:t>
            </a:r>
          </a:p>
        </p:txBody>
      </p:sp>
      <p:sp>
        <p:nvSpPr>
          <p:cNvPr id="17" name="TextBox 16"/>
          <p:cNvSpPr txBox="1"/>
          <p:nvPr/>
        </p:nvSpPr>
        <p:spPr>
          <a:xfrm>
            <a:off x="868680" y="4572000"/>
            <a:ext cx="438912" cy="384048"/>
          </a:xfrm>
          <a:prstGeom prst="rect">
            <a:avLst/>
          </a:prstGeom>
          <a:noFill/>
        </p:spPr>
        <p:txBody>
          <a:bodyPr wrap="square" anchor="t">
            <a:spAutoFit/>
          </a:bodyPr>
          <a:lstStyle/>
          <a:p>
            <a:pPr algn="l"/>
            <a:r>
              <a:rPr sz="1400" b="1">
                <a:solidFill>
                  <a:srgbClr val="6D28D9"/>
                </a:solidFill>
                <a:latin typeface="Arial"/>
              </a:rPr>
              <a:t>05</a:t>
            </a:r>
          </a:p>
        </p:txBody>
      </p:sp>
      <p:sp>
        <p:nvSpPr>
          <p:cNvPr id="18" name="TextBox 17"/>
          <p:cNvSpPr txBox="1"/>
          <p:nvPr/>
        </p:nvSpPr>
        <p:spPr>
          <a:xfrm>
            <a:off x="1399031" y="4572000"/>
            <a:ext cx="2011680" cy="320040"/>
          </a:xfrm>
          <a:prstGeom prst="rect">
            <a:avLst/>
          </a:prstGeom>
          <a:noFill/>
        </p:spPr>
        <p:txBody>
          <a:bodyPr wrap="square" anchor="t">
            <a:spAutoFit/>
          </a:bodyPr>
          <a:lstStyle/>
          <a:p>
            <a:pPr algn="l"/>
            <a:r>
              <a:rPr sz="1400" b="1">
                <a:solidFill>
                  <a:srgbClr val="14142B"/>
                </a:solidFill>
                <a:latin typeface="Arial"/>
              </a:rPr>
              <a:t>Evaluation</a:t>
            </a:r>
          </a:p>
        </p:txBody>
      </p:sp>
      <p:sp>
        <p:nvSpPr>
          <p:cNvPr id="19" name="TextBox 18"/>
          <p:cNvSpPr txBox="1"/>
          <p:nvPr/>
        </p:nvSpPr>
        <p:spPr>
          <a:xfrm>
            <a:off x="1399031" y="4910328"/>
            <a:ext cx="4297680" cy="566928"/>
          </a:xfrm>
          <a:prstGeom prst="rect">
            <a:avLst/>
          </a:prstGeom>
          <a:noFill/>
        </p:spPr>
        <p:txBody>
          <a:bodyPr wrap="square" anchor="t">
            <a:spAutoFit/>
          </a:bodyPr>
          <a:lstStyle/>
          <a:p>
            <a:pPr algn="l"/>
            <a:r>
              <a:rPr sz="1080" b="0">
                <a:solidFill>
                  <a:srgbClr val="63637E"/>
                </a:solidFill>
                <a:latin typeface="Calibri"/>
              </a:rPr>
              <a:t>Add broader real-device evaluation and multilingual / edge-case testing.</a:t>
            </a:r>
          </a:p>
        </p:txBody>
      </p:sp>
      <p:sp>
        <p:nvSpPr>
          <p:cNvPr id="20" name="Rounded Rectangle 19"/>
          <p:cNvSpPr/>
          <p:nvPr/>
        </p:nvSpPr>
        <p:spPr>
          <a:xfrm>
            <a:off x="6400800" y="4617720"/>
            <a:ext cx="4572000" cy="841248"/>
          </a:xfrm>
          <a:prstGeom prst="roundRect">
            <a:avLst/>
          </a:prstGeom>
          <a:solidFill>
            <a:srgbClr val="F5F2FC"/>
          </a:solidFill>
          <a:ln w="12700">
            <a:solidFill>
              <a:srgbClr val="F5F2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629400" y="4782312"/>
            <a:ext cx="4114800" cy="457200"/>
          </a:xfrm>
          <a:prstGeom prst="rect">
            <a:avLst/>
          </a:prstGeom>
          <a:noFill/>
        </p:spPr>
        <p:txBody>
          <a:bodyPr wrap="square" anchor="t">
            <a:spAutoFit/>
          </a:bodyPr>
          <a:lstStyle/>
          <a:p>
            <a:pPr algn="l"/>
            <a:r>
              <a:rPr sz="1250" b="1">
                <a:solidFill>
                  <a:srgbClr val="14142B"/>
                </a:solidFill>
                <a:latin typeface="Calibri"/>
              </a:rPr>
              <a:t>Long-term: evolve SYNTRA into a robust guided device-support experience.</a:t>
            </a:r>
          </a:p>
        </p:txBody>
      </p:sp>
      <p:sp>
        <p:nvSpPr>
          <p:cNvPr id="22" name="TextBox 21"/>
          <p:cNvSpPr txBox="1"/>
          <p:nvPr/>
        </p:nvSpPr>
        <p:spPr>
          <a:xfrm>
            <a:off x="10927080" y="6080760"/>
            <a:ext cx="411480" cy="228600"/>
          </a:xfrm>
          <a:prstGeom prst="rect">
            <a:avLst/>
          </a:prstGeom>
          <a:noFill/>
        </p:spPr>
        <p:txBody>
          <a:bodyPr wrap="square" anchor="t">
            <a:spAutoFit/>
          </a:bodyPr>
          <a:lstStyle/>
          <a:p>
            <a:pPr algn="r"/>
            <a:r>
              <a:rPr sz="900" b="0">
                <a:solidFill>
                  <a:srgbClr val="63637E"/>
                </a:solidFill>
                <a:latin typeface="Arial"/>
              </a:rPr>
              <a:t>8</a:t>
            </a:r>
          </a:p>
        </p:txBody>
      </p:sp>
    </p:spTree>
    <p:extLst>
      <p:ext uri="{BB962C8B-B14F-4D97-AF65-F5344CB8AC3E}">
        <p14:creationId xmlns:p14="http://schemas.microsoft.com/office/powerpoint/2010/main" val="1993237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wrap="square" anchor="t"/>
          <a:lstStyle/>
          <a:p>
            <a:pPr algn="l">
              <a:spcAft>
                <a:spcPts val="500"/>
              </a:spcAft>
              <a:buSzPct val="100000"/>
            </a:pPr>
            <a:r>
              <a:rPr sz="2800" b="1">
                <a:solidFill>
                  <a:srgbClr val="704EA6"/>
                </a:solidFill>
                <a:latin typeface="Arial"/>
              </a:rPr>
              <a:t>Brownie Points / Differentiation</a:t>
            </a:r>
            <a:endParaRPr lang="en-US" sz="4400" b="1" dirty="0">
              <a:solidFill>
                <a:srgbClr val="704EA6"/>
              </a:solidFill>
            </a:endParaRPr>
          </a:p>
        </p:txBody>
      </p:sp>
      <p:sp>
        <p:nvSpPr>
          <p:cNvPr id="4" name="Rounded Rectangle 3"/>
          <p:cNvSpPr/>
          <p:nvPr/>
        </p:nvSpPr>
        <p:spPr>
          <a:xfrm>
            <a:off x="822960" y="1572768"/>
            <a:ext cx="4983480" cy="804672"/>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87552" y="1691640"/>
            <a:ext cx="1600200" cy="256032"/>
          </a:xfrm>
          <a:prstGeom prst="rect">
            <a:avLst/>
          </a:prstGeom>
          <a:noFill/>
        </p:spPr>
        <p:txBody>
          <a:bodyPr wrap="square" anchor="t">
            <a:spAutoFit/>
          </a:bodyPr>
          <a:lstStyle/>
          <a:p>
            <a:pPr algn="l"/>
            <a:r>
              <a:rPr sz="1150" b="1">
                <a:solidFill>
                  <a:srgbClr val="6D28D9"/>
                </a:solidFill>
                <a:latin typeface="Arial"/>
              </a:rPr>
              <a:t>AI WITH BOUNDARIES</a:t>
            </a:r>
          </a:p>
        </p:txBody>
      </p:sp>
      <p:sp>
        <p:nvSpPr>
          <p:cNvPr id="6" name="TextBox 5"/>
          <p:cNvSpPr txBox="1"/>
          <p:nvPr/>
        </p:nvSpPr>
        <p:spPr>
          <a:xfrm>
            <a:off x="2606040" y="1664208"/>
            <a:ext cx="2971800" cy="502920"/>
          </a:xfrm>
          <a:prstGeom prst="rect">
            <a:avLst/>
          </a:prstGeom>
          <a:noFill/>
        </p:spPr>
        <p:txBody>
          <a:bodyPr wrap="square" anchor="t">
            <a:spAutoFit/>
          </a:bodyPr>
          <a:lstStyle/>
          <a:p>
            <a:pPr algn="l"/>
            <a:r>
              <a:rPr sz="1050" b="0">
                <a:solidFill>
                  <a:srgbClr val="63637E"/>
                </a:solidFill>
                <a:latin typeface="Calibri"/>
              </a:rPr>
              <a:t>LLM reasoning is separated from action authority.</a:t>
            </a:r>
          </a:p>
        </p:txBody>
      </p:sp>
      <p:sp>
        <p:nvSpPr>
          <p:cNvPr id="7" name="Rounded Rectangle 6"/>
          <p:cNvSpPr/>
          <p:nvPr/>
        </p:nvSpPr>
        <p:spPr>
          <a:xfrm>
            <a:off x="6172200" y="1572768"/>
            <a:ext cx="4983480" cy="804672"/>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336792" y="1691640"/>
            <a:ext cx="1600200" cy="256032"/>
          </a:xfrm>
          <a:prstGeom prst="rect">
            <a:avLst/>
          </a:prstGeom>
          <a:noFill/>
        </p:spPr>
        <p:txBody>
          <a:bodyPr wrap="square" anchor="t">
            <a:spAutoFit/>
          </a:bodyPr>
          <a:lstStyle/>
          <a:p>
            <a:pPr algn="l"/>
            <a:r>
              <a:rPr sz="1150" b="1">
                <a:solidFill>
                  <a:srgbClr val="6D28D9"/>
                </a:solidFill>
                <a:latin typeface="Arial"/>
              </a:rPr>
              <a:t>GROUNDING FIRST</a:t>
            </a:r>
          </a:p>
        </p:txBody>
      </p:sp>
      <p:sp>
        <p:nvSpPr>
          <p:cNvPr id="9" name="TextBox 8"/>
          <p:cNvSpPr txBox="1"/>
          <p:nvPr/>
        </p:nvSpPr>
        <p:spPr>
          <a:xfrm>
            <a:off x="7955279" y="1664208"/>
            <a:ext cx="2971800" cy="502920"/>
          </a:xfrm>
          <a:prstGeom prst="rect">
            <a:avLst/>
          </a:prstGeom>
          <a:noFill/>
        </p:spPr>
        <p:txBody>
          <a:bodyPr wrap="square" anchor="t">
            <a:spAutoFit/>
          </a:bodyPr>
          <a:lstStyle/>
          <a:p>
            <a:pPr algn="l"/>
            <a:r>
              <a:rPr sz="1050" b="0">
                <a:solidFill>
                  <a:srgbClr val="63637E"/>
                </a:solidFill>
                <a:latin typeface="Calibri"/>
              </a:rPr>
              <a:t>SIIS remains the troubleshooting source of truth.</a:t>
            </a:r>
          </a:p>
        </p:txBody>
      </p:sp>
      <p:sp>
        <p:nvSpPr>
          <p:cNvPr id="10" name="Rounded Rectangle 9"/>
          <p:cNvSpPr/>
          <p:nvPr/>
        </p:nvSpPr>
        <p:spPr>
          <a:xfrm>
            <a:off x="822960" y="2596896"/>
            <a:ext cx="4983480" cy="804672"/>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87552" y="2715768"/>
            <a:ext cx="1600200" cy="256032"/>
          </a:xfrm>
          <a:prstGeom prst="rect">
            <a:avLst/>
          </a:prstGeom>
          <a:noFill/>
        </p:spPr>
        <p:txBody>
          <a:bodyPr wrap="square" anchor="t">
            <a:spAutoFit/>
          </a:bodyPr>
          <a:lstStyle/>
          <a:p>
            <a:pPr algn="l"/>
            <a:r>
              <a:rPr sz="1150" b="1">
                <a:solidFill>
                  <a:srgbClr val="6D28D9"/>
                </a:solidFill>
                <a:latin typeface="Arial"/>
              </a:rPr>
              <a:t>OPAQUE CANDIDATES</a:t>
            </a:r>
          </a:p>
        </p:txBody>
      </p:sp>
      <p:sp>
        <p:nvSpPr>
          <p:cNvPr id="12" name="TextBox 11"/>
          <p:cNvSpPr txBox="1"/>
          <p:nvPr/>
        </p:nvSpPr>
        <p:spPr>
          <a:xfrm>
            <a:off x="2606040" y="2688336"/>
            <a:ext cx="2971800" cy="502920"/>
          </a:xfrm>
          <a:prstGeom prst="rect">
            <a:avLst/>
          </a:prstGeom>
          <a:noFill/>
        </p:spPr>
        <p:txBody>
          <a:bodyPr wrap="square" anchor="t">
            <a:spAutoFit/>
          </a:bodyPr>
          <a:lstStyle/>
          <a:p>
            <a:pPr algn="l"/>
            <a:r>
              <a:rPr sz="1050" b="0">
                <a:solidFill>
                  <a:srgbClr val="63637E"/>
                </a:solidFill>
                <a:latin typeface="Calibri"/>
              </a:rPr>
              <a:t>Gemini sees candidate IDs — not authoritative URI generation.</a:t>
            </a:r>
          </a:p>
        </p:txBody>
      </p:sp>
      <p:sp>
        <p:nvSpPr>
          <p:cNvPr id="13" name="Rounded Rectangle 12"/>
          <p:cNvSpPr/>
          <p:nvPr/>
        </p:nvSpPr>
        <p:spPr>
          <a:xfrm>
            <a:off x="6172200" y="2596896"/>
            <a:ext cx="4983480" cy="804672"/>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36792" y="2715768"/>
            <a:ext cx="1600200" cy="256032"/>
          </a:xfrm>
          <a:prstGeom prst="rect">
            <a:avLst/>
          </a:prstGeom>
          <a:noFill/>
        </p:spPr>
        <p:txBody>
          <a:bodyPr wrap="square" anchor="t">
            <a:spAutoFit/>
          </a:bodyPr>
          <a:lstStyle/>
          <a:p>
            <a:pPr algn="l"/>
            <a:r>
              <a:rPr sz="1150" b="1">
                <a:solidFill>
                  <a:srgbClr val="6D28D9"/>
                </a:solidFill>
                <a:latin typeface="Arial"/>
              </a:rPr>
              <a:t>CATALOG AUTHORITY</a:t>
            </a:r>
          </a:p>
        </p:txBody>
      </p:sp>
      <p:sp>
        <p:nvSpPr>
          <p:cNvPr id="15" name="TextBox 14"/>
          <p:cNvSpPr txBox="1"/>
          <p:nvPr/>
        </p:nvSpPr>
        <p:spPr>
          <a:xfrm>
            <a:off x="7955279" y="2688336"/>
            <a:ext cx="2971800" cy="502920"/>
          </a:xfrm>
          <a:prstGeom prst="rect">
            <a:avLst/>
          </a:prstGeom>
          <a:noFill/>
        </p:spPr>
        <p:txBody>
          <a:bodyPr wrap="square" anchor="t">
            <a:spAutoFit/>
          </a:bodyPr>
          <a:lstStyle/>
          <a:p>
            <a:pPr algn="l"/>
            <a:r>
              <a:rPr sz="1050" b="0">
                <a:solidFill>
                  <a:srgbClr val="63637E"/>
                </a:solidFill>
                <a:latin typeface="Calibri"/>
              </a:rPr>
              <a:t>Deeplinks are resolved exactly from the supplied catalog.</a:t>
            </a:r>
          </a:p>
        </p:txBody>
      </p:sp>
      <p:sp>
        <p:nvSpPr>
          <p:cNvPr id="16" name="Rounded Rectangle 15"/>
          <p:cNvSpPr/>
          <p:nvPr/>
        </p:nvSpPr>
        <p:spPr>
          <a:xfrm>
            <a:off x="822960" y="3621024"/>
            <a:ext cx="4983480" cy="804672"/>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87552" y="3739896"/>
            <a:ext cx="1600200" cy="256032"/>
          </a:xfrm>
          <a:prstGeom prst="rect">
            <a:avLst/>
          </a:prstGeom>
          <a:noFill/>
        </p:spPr>
        <p:txBody>
          <a:bodyPr wrap="square" anchor="t">
            <a:spAutoFit/>
          </a:bodyPr>
          <a:lstStyle/>
          <a:p>
            <a:pPr algn="l"/>
            <a:r>
              <a:rPr sz="1150" b="1">
                <a:solidFill>
                  <a:srgbClr val="6D28D9"/>
                </a:solidFill>
                <a:latin typeface="Arial"/>
              </a:rPr>
              <a:t>POLARITY AWARE</a:t>
            </a:r>
          </a:p>
        </p:txBody>
      </p:sp>
      <p:sp>
        <p:nvSpPr>
          <p:cNvPr id="18" name="TextBox 17"/>
          <p:cNvSpPr txBox="1"/>
          <p:nvPr/>
        </p:nvSpPr>
        <p:spPr>
          <a:xfrm>
            <a:off x="2606040" y="3712463"/>
            <a:ext cx="2971800" cy="502920"/>
          </a:xfrm>
          <a:prstGeom prst="rect">
            <a:avLst/>
          </a:prstGeom>
          <a:noFill/>
        </p:spPr>
        <p:txBody>
          <a:bodyPr wrap="square" anchor="t">
            <a:spAutoFit/>
          </a:bodyPr>
          <a:lstStyle/>
          <a:p>
            <a:pPr algn="l"/>
            <a:r>
              <a:rPr sz="1050" b="0">
                <a:solidFill>
                  <a:srgbClr val="63637E"/>
                </a:solidFill>
                <a:latin typeface="Calibri"/>
              </a:rPr>
              <a:t>Enable / disable intent is explicitly handled.</a:t>
            </a:r>
          </a:p>
        </p:txBody>
      </p:sp>
      <p:sp>
        <p:nvSpPr>
          <p:cNvPr id="19" name="Rounded Rectangle 18"/>
          <p:cNvSpPr/>
          <p:nvPr/>
        </p:nvSpPr>
        <p:spPr>
          <a:xfrm>
            <a:off x="6172200" y="3621024"/>
            <a:ext cx="4983480" cy="804672"/>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36792" y="3739896"/>
            <a:ext cx="1600200" cy="256032"/>
          </a:xfrm>
          <a:prstGeom prst="rect">
            <a:avLst/>
          </a:prstGeom>
          <a:noFill/>
        </p:spPr>
        <p:txBody>
          <a:bodyPr wrap="square" anchor="t">
            <a:spAutoFit/>
          </a:bodyPr>
          <a:lstStyle/>
          <a:p>
            <a:pPr algn="l"/>
            <a:r>
              <a:rPr sz="1150" b="1">
                <a:solidFill>
                  <a:srgbClr val="6D28D9"/>
                </a:solidFill>
                <a:latin typeface="Arial"/>
              </a:rPr>
              <a:t>SELECTIVE REASONING</a:t>
            </a:r>
          </a:p>
        </p:txBody>
      </p:sp>
      <p:sp>
        <p:nvSpPr>
          <p:cNvPr id="21" name="TextBox 20"/>
          <p:cNvSpPr txBox="1"/>
          <p:nvPr/>
        </p:nvSpPr>
        <p:spPr>
          <a:xfrm>
            <a:off x="7955279" y="3712463"/>
            <a:ext cx="2971800" cy="502920"/>
          </a:xfrm>
          <a:prstGeom prst="rect">
            <a:avLst/>
          </a:prstGeom>
          <a:noFill/>
        </p:spPr>
        <p:txBody>
          <a:bodyPr wrap="square" anchor="t">
            <a:spAutoFit/>
          </a:bodyPr>
          <a:lstStyle/>
          <a:p>
            <a:pPr algn="l"/>
            <a:r>
              <a:rPr sz="1050" b="0">
                <a:solidFill>
                  <a:srgbClr val="63637E"/>
                </a:solidFill>
                <a:latin typeface="Calibri"/>
              </a:rPr>
              <a:t>Gemini is invoked only when ambiguity warrants it.</a:t>
            </a:r>
          </a:p>
        </p:txBody>
      </p:sp>
      <p:sp>
        <p:nvSpPr>
          <p:cNvPr id="22" name="Rounded Rectangle 21"/>
          <p:cNvSpPr/>
          <p:nvPr/>
        </p:nvSpPr>
        <p:spPr>
          <a:xfrm>
            <a:off x="822960" y="4645152"/>
            <a:ext cx="4983480" cy="804672"/>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87552" y="4764024"/>
            <a:ext cx="1600200" cy="256032"/>
          </a:xfrm>
          <a:prstGeom prst="rect">
            <a:avLst/>
          </a:prstGeom>
          <a:noFill/>
        </p:spPr>
        <p:txBody>
          <a:bodyPr wrap="square" anchor="t">
            <a:spAutoFit/>
          </a:bodyPr>
          <a:lstStyle/>
          <a:p>
            <a:pPr algn="l"/>
            <a:r>
              <a:rPr sz="1150" b="1">
                <a:solidFill>
                  <a:srgbClr val="6D28D9"/>
                </a:solidFill>
                <a:latin typeface="Arial"/>
              </a:rPr>
              <a:t>VERIFICATION LAST</a:t>
            </a:r>
          </a:p>
        </p:txBody>
      </p:sp>
      <p:sp>
        <p:nvSpPr>
          <p:cNvPr id="24" name="TextBox 23"/>
          <p:cNvSpPr txBox="1"/>
          <p:nvPr/>
        </p:nvSpPr>
        <p:spPr>
          <a:xfrm>
            <a:off x="2606040" y="4736592"/>
            <a:ext cx="2971800" cy="502920"/>
          </a:xfrm>
          <a:prstGeom prst="rect">
            <a:avLst/>
          </a:prstGeom>
          <a:noFill/>
        </p:spPr>
        <p:txBody>
          <a:bodyPr wrap="square" anchor="t">
            <a:spAutoFit/>
          </a:bodyPr>
          <a:lstStyle/>
          <a:p>
            <a:pPr algn="l"/>
            <a:r>
              <a:rPr sz="1050" b="0">
                <a:solidFill>
                  <a:srgbClr val="63637E"/>
                </a:solidFill>
                <a:latin typeface="Calibri"/>
              </a:rPr>
              <a:t>Schema, security and safety checks remain deterministic.</a:t>
            </a:r>
          </a:p>
        </p:txBody>
      </p:sp>
      <p:sp>
        <p:nvSpPr>
          <p:cNvPr id="25" name="Rounded Rectangle 24"/>
          <p:cNvSpPr/>
          <p:nvPr/>
        </p:nvSpPr>
        <p:spPr>
          <a:xfrm>
            <a:off x="6172200" y="4645152"/>
            <a:ext cx="4983480" cy="804672"/>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36792" y="4764024"/>
            <a:ext cx="1600200" cy="256032"/>
          </a:xfrm>
          <a:prstGeom prst="rect">
            <a:avLst/>
          </a:prstGeom>
          <a:noFill/>
        </p:spPr>
        <p:txBody>
          <a:bodyPr wrap="square" anchor="t">
            <a:spAutoFit/>
          </a:bodyPr>
          <a:lstStyle/>
          <a:p>
            <a:pPr algn="l"/>
            <a:r>
              <a:rPr sz="1150" b="1">
                <a:solidFill>
                  <a:srgbClr val="6D28D9"/>
                </a:solidFill>
                <a:latin typeface="Arial"/>
              </a:rPr>
              <a:t>PERFORMANCE AWARE</a:t>
            </a:r>
          </a:p>
        </p:txBody>
      </p:sp>
      <p:sp>
        <p:nvSpPr>
          <p:cNvPr id="27" name="TextBox 26"/>
          <p:cNvSpPr txBox="1"/>
          <p:nvPr/>
        </p:nvSpPr>
        <p:spPr>
          <a:xfrm>
            <a:off x="7955279" y="4736592"/>
            <a:ext cx="2971800" cy="502920"/>
          </a:xfrm>
          <a:prstGeom prst="rect">
            <a:avLst/>
          </a:prstGeom>
          <a:noFill/>
        </p:spPr>
        <p:txBody>
          <a:bodyPr wrap="square" anchor="t">
            <a:spAutoFit/>
          </a:bodyPr>
          <a:lstStyle/>
          <a:p>
            <a:pPr algn="l"/>
            <a:r>
              <a:rPr sz="1050" b="0">
                <a:solidFill>
                  <a:srgbClr val="63637E"/>
                </a:solidFill>
                <a:latin typeface="Calibri"/>
              </a:rPr>
              <a:t>Caching and selective model usage avoid unnecessary expensive work.</a:t>
            </a:r>
          </a:p>
        </p:txBody>
      </p:sp>
      <p:sp>
        <p:nvSpPr>
          <p:cNvPr id="28" name="TextBox 27"/>
          <p:cNvSpPr txBox="1"/>
          <p:nvPr/>
        </p:nvSpPr>
        <p:spPr>
          <a:xfrm>
            <a:off x="10927080" y="6080760"/>
            <a:ext cx="411480" cy="228600"/>
          </a:xfrm>
          <a:prstGeom prst="rect">
            <a:avLst/>
          </a:prstGeom>
          <a:noFill/>
        </p:spPr>
        <p:txBody>
          <a:bodyPr wrap="square" anchor="t">
            <a:spAutoFit/>
          </a:bodyPr>
          <a:lstStyle/>
          <a:p>
            <a:pPr algn="r"/>
            <a:r>
              <a:rPr sz="900" b="0">
                <a:solidFill>
                  <a:srgbClr val="63637E"/>
                </a:solidFill>
                <a:latin typeface="Arial"/>
              </a:rPr>
              <a:t>9</a:t>
            </a:r>
          </a:p>
        </p:txBody>
      </p:sp>
    </p:spTree>
    <p:extLst>
      <p:ext uri="{BB962C8B-B14F-4D97-AF65-F5344CB8AC3E}">
        <p14:creationId xmlns:p14="http://schemas.microsoft.com/office/powerpoint/2010/main" val="3985914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wrap="square" anchor="t"/>
          <a:lstStyle/>
          <a:p>
            <a:pPr algn="l">
              <a:spcAft>
                <a:spcPts val="500"/>
              </a:spcAft>
              <a:buSzPct val="100000"/>
            </a:pPr>
            <a:r>
              <a:rPr sz="2800" b="1">
                <a:solidFill>
                  <a:srgbClr val="704EA6"/>
                </a:solidFill>
                <a:latin typeface="Arial"/>
              </a:rPr>
              <a:t>Checklist — Updated on Public GitHub</a:t>
            </a:r>
            <a:endParaRPr lang="en-US" sz="4400" b="1" dirty="0">
              <a:solidFill>
                <a:srgbClr val="704EA6"/>
              </a:solidFill>
            </a:endParaRPr>
          </a:p>
        </p:txBody>
      </p:sp>
      <p:sp>
        <p:nvSpPr>
          <p:cNvPr id="3" name="Rounded Rectangle 2"/>
          <p:cNvSpPr/>
          <p:nvPr/>
        </p:nvSpPr>
        <p:spPr>
          <a:xfrm>
            <a:off x="868680" y="1572768"/>
            <a:ext cx="2423160" cy="310896"/>
          </a:xfrm>
          <a:prstGeom prst="roundRect">
            <a:avLst/>
          </a:prstGeom>
          <a:solidFill>
            <a:srgbClr val="6D28D9"/>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Arial"/>
              </a:rPr>
              <a:t>SUBMISSION PACKAGE</a:t>
            </a:r>
          </a:p>
        </p:txBody>
      </p:sp>
      <p:sp>
        <p:nvSpPr>
          <p:cNvPr id="4" name="Rounded Rectangle 3"/>
          <p:cNvSpPr/>
          <p:nvPr/>
        </p:nvSpPr>
        <p:spPr>
          <a:xfrm>
            <a:off x="868680" y="1993392"/>
            <a:ext cx="10012680" cy="338328"/>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2048256"/>
            <a:ext cx="3886200" cy="201168"/>
          </a:xfrm>
          <a:prstGeom prst="rect">
            <a:avLst/>
          </a:prstGeom>
          <a:noFill/>
        </p:spPr>
        <p:txBody>
          <a:bodyPr wrap="square" anchor="t">
            <a:spAutoFit/>
          </a:bodyPr>
          <a:lstStyle/>
          <a:p>
            <a:pPr algn="l"/>
            <a:r>
              <a:rPr sz="1150" b="1">
                <a:solidFill>
                  <a:srgbClr val="14142B"/>
                </a:solidFill>
                <a:latin typeface="Calibri"/>
              </a:rPr>
              <a:t>Working prototype code</a:t>
            </a:r>
          </a:p>
        </p:txBody>
      </p:sp>
      <p:sp>
        <p:nvSpPr>
          <p:cNvPr id="6" name="TextBox 5"/>
          <p:cNvSpPr txBox="1"/>
          <p:nvPr/>
        </p:nvSpPr>
        <p:spPr>
          <a:xfrm>
            <a:off x="5074920" y="2048256"/>
            <a:ext cx="5440680" cy="201168"/>
          </a:xfrm>
          <a:prstGeom prst="rect">
            <a:avLst/>
          </a:prstGeom>
          <a:noFill/>
        </p:spPr>
        <p:txBody>
          <a:bodyPr wrap="square" anchor="t">
            <a:spAutoFit/>
          </a:bodyPr>
          <a:lstStyle/>
          <a:p>
            <a:r>
              <a:rPr>
                <a:hlinkClick r:id="rId2"/>
              </a:rPr>
              <a:t>PUBLIC — github.com/rayyyzer/SYNTRA</a:t>
            </a:r>
          </a:p>
        </p:txBody>
      </p:sp>
      <p:sp>
        <p:nvSpPr>
          <p:cNvPr id="7" name="Rounded Rectangle 6"/>
          <p:cNvSpPr/>
          <p:nvPr/>
        </p:nvSpPr>
        <p:spPr>
          <a:xfrm>
            <a:off x="868680" y="2423160"/>
            <a:ext cx="10012680" cy="338328"/>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2478024"/>
            <a:ext cx="3886200" cy="201168"/>
          </a:xfrm>
          <a:prstGeom prst="rect">
            <a:avLst/>
          </a:prstGeom>
          <a:noFill/>
        </p:spPr>
        <p:txBody>
          <a:bodyPr wrap="square" anchor="t">
            <a:spAutoFit/>
          </a:bodyPr>
          <a:lstStyle/>
          <a:p>
            <a:pPr algn="l"/>
            <a:r>
              <a:rPr sz="1150" b="1">
                <a:solidFill>
                  <a:srgbClr val="14142B"/>
                </a:solidFill>
                <a:latin typeface="Calibri"/>
              </a:rPr>
              <a:t>README + reproducible setup</a:t>
            </a:r>
          </a:p>
        </p:txBody>
      </p:sp>
      <p:sp>
        <p:nvSpPr>
          <p:cNvPr id="9" name="TextBox 8"/>
          <p:cNvSpPr txBox="1"/>
          <p:nvPr/>
        </p:nvSpPr>
        <p:spPr>
          <a:xfrm>
            <a:off x="5074920" y="2478024"/>
            <a:ext cx="5440680" cy="201168"/>
          </a:xfrm>
          <a:prstGeom prst="rect">
            <a:avLst/>
          </a:prstGeom>
          <a:noFill/>
        </p:spPr>
        <p:txBody>
          <a:bodyPr wrap="square" anchor="t">
            <a:spAutoFit/>
          </a:bodyPr>
          <a:lstStyle/>
          <a:p>
            <a:r>
              <a:rPr>
                <a:hlinkClick r:id="rId2"/>
              </a:rPr>
              <a:t>INCLUDED — GitHub</a:t>
            </a:r>
          </a:p>
        </p:txBody>
      </p:sp>
      <p:sp>
        <p:nvSpPr>
          <p:cNvPr id="10" name="Rounded Rectangle 9"/>
          <p:cNvSpPr/>
          <p:nvPr/>
        </p:nvSpPr>
        <p:spPr>
          <a:xfrm>
            <a:off x="868680" y="2852928"/>
            <a:ext cx="10012680" cy="338328"/>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2907792"/>
            <a:ext cx="3886200" cy="201168"/>
          </a:xfrm>
          <a:prstGeom prst="rect">
            <a:avLst/>
          </a:prstGeom>
          <a:noFill/>
        </p:spPr>
        <p:txBody>
          <a:bodyPr wrap="square" anchor="t">
            <a:spAutoFit/>
          </a:bodyPr>
          <a:lstStyle/>
          <a:p>
            <a:pPr algn="l"/>
            <a:r>
              <a:rPr sz="1150" b="1">
                <a:solidFill>
                  <a:srgbClr val="14142B"/>
                </a:solidFill>
                <a:latin typeface="Calibri"/>
              </a:rPr>
              <a:t>Docker instructions</a:t>
            </a:r>
          </a:p>
        </p:txBody>
      </p:sp>
      <p:sp>
        <p:nvSpPr>
          <p:cNvPr id="12" name="TextBox 11"/>
          <p:cNvSpPr txBox="1"/>
          <p:nvPr/>
        </p:nvSpPr>
        <p:spPr>
          <a:xfrm>
            <a:off x="5074920" y="2907792"/>
            <a:ext cx="5440680" cy="201168"/>
          </a:xfrm>
          <a:prstGeom prst="rect">
            <a:avLst/>
          </a:prstGeom>
          <a:noFill/>
        </p:spPr>
        <p:txBody>
          <a:bodyPr wrap="square" anchor="t">
            <a:spAutoFit/>
          </a:bodyPr>
          <a:lstStyle/>
          <a:p>
            <a:pPr algn="l"/>
            <a:r>
              <a:rPr sz="1050" b="0">
                <a:solidFill>
                  <a:srgbClr val="63637E"/>
                </a:solidFill>
                <a:latin typeface="Calibri"/>
              </a:rPr>
              <a:t>INCLUDED</a:t>
            </a:r>
          </a:p>
        </p:txBody>
      </p:sp>
      <p:sp>
        <p:nvSpPr>
          <p:cNvPr id="13" name="Rounded Rectangle 12"/>
          <p:cNvSpPr/>
          <p:nvPr/>
        </p:nvSpPr>
        <p:spPr>
          <a:xfrm>
            <a:off x="868680" y="3282696"/>
            <a:ext cx="10012680" cy="338328"/>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51560" y="3337560"/>
            <a:ext cx="3886200" cy="201168"/>
          </a:xfrm>
          <a:prstGeom prst="rect">
            <a:avLst/>
          </a:prstGeom>
          <a:noFill/>
        </p:spPr>
        <p:txBody>
          <a:bodyPr wrap="square" anchor="t">
            <a:spAutoFit/>
          </a:bodyPr>
          <a:lstStyle/>
          <a:p>
            <a:pPr algn="l"/>
            <a:r>
              <a:rPr sz="1150" b="1">
                <a:solidFill>
                  <a:srgbClr val="14142B"/>
                </a:solidFill>
                <a:latin typeface="Calibri"/>
              </a:rPr>
              <a:t>Demo video ≤ 5 min</a:t>
            </a:r>
          </a:p>
        </p:txBody>
      </p:sp>
      <p:sp>
        <p:nvSpPr>
          <p:cNvPr id="15" name="TextBox 14"/>
          <p:cNvSpPr txBox="1"/>
          <p:nvPr/>
        </p:nvSpPr>
        <p:spPr>
          <a:xfrm>
            <a:off x="5074920" y="3337560"/>
            <a:ext cx="5440680" cy="201168"/>
          </a:xfrm>
          <a:prstGeom prst="rect">
            <a:avLst/>
          </a:prstGeom>
          <a:noFill/>
        </p:spPr>
        <p:txBody>
          <a:bodyPr wrap="square" anchor="t">
            <a:spAutoFit/>
          </a:bodyPr>
          <a:lstStyle/>
          <a:p>
            <a:pPr algn="l"/>
            <a:r>
              <a:rPr sz="1050" b="0">
                <a:solidFill>
                  <a:srgbClr val="63637E"/>
                </a:solidFill>
                <a:latin typeface="Calibri"/>
              </a:rPr>
              <a:t>INCLUDED — CONFIRM FINAL LINK</a:t>
            </a:r>
          </a:p>
        </p:txBody>
      </p:sp>
      <p:sp>
        <p:nvSpPr>
          <p:cNvPr id="16" name="Rounded Rectangle 15"/>
          <p:cNvSpPr/>
          <p:nvPr/>
        </p:nvSpPr>
        <p:spPr>
          <a:xfrm>
            <a:off x="868680" y="3712464"/>
            <a:ext cx="10012680" cy="338328"/>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51560" y="3767328"/>
            <a:ext cx="3886200" cy="201168"/>
          </a:xfrm>
          <a:prstGeom prst="rect">
            <a:avLst/>
          </a:prstGeom>
          <a:noFill/>
        </p:spPr>
        <p:txBody>
          <a:bodyPr wrap="square" anchor="t">
            <a:spAutoFit/>
          </a:bodyPr>
          <a:lstStyle/>
          <a:p>
            <a:pPr algn="l"/>
            <a:r>
              <a:rPr sz="1150" b="1">
                <a:solidFill>
                  <a:srgbClr val="14142B"/>
                </a:solidFill>
                <a:latin typeface="Calibri"/>
              </a:rPr>
              <a:t>Presentation file (PPT/PDF)</a:t>
            </a:r>
          </a:p>
        </p:txBody>
      </p:sp>
      <p:sp>
        <p:nvSpPr>
          <p:cNvPr id="18" name="TextBox 17"/>
          <p:cNvSpPr txBox="1"/>
          <p:nvPr/>
        </p:nvSpPr>
        <p:spPr>
          <a:xfrm>
            <a:off x="5074920" y="3767328"/>
            <a:ext cx="5440680" cy="201168"/>
          </a:xfrm>
          <a:prstGeom prst="rect">
            <a:avLst/>
          </a:prstGeom>
          <a:noFill/>
        </p:spPr>
        <p:txBody>
          <a:bodyPr wrap="square" anchor="t">
            <a:spAutoFit/>
          </a:bodyPr>
          <a:lstStyle/>
          <a:p>
            <a:pPr algn="l"/>
            <a:r>
              <a:rPr sz="1050" b="0">
                <a:solidFill>
                  <a:srgbClr val="63637E"/>
                </a:solidFill>
                <a:latin typeface="Calibri"/>
              </a:rPr>
              <a:t>THIS DECK</a:t>
            </a:r>
          </a:p>
        </p:txBody>
      </p:sp>
      <p:sp>
        <p:nvSpPr>
          <p:cNvPr id="19" name="Rounded Rectangle 18"/>
          <p:cNvSpPr/>
          <p:nvPr/>
        </p:nvSpPr>
        <p:spPr>
          <a:xfrm>
            <a:off x="868680" y="4142231"/>
            <a:ext cx="10012680" cy="338328"/>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51560" y="4197095"/>
            <a:ext cx="3886200" cy="201168"/>
          </a:xfrm>
          <a:prstGeom prst="rect">
            <a:avLst/>
          </a:prstGeom>
          <a:noFill/>
        </p:spPr>
        <p:txBody>
          <a:bodyPr wrap="square" anchor="t">
            <a:spAutoFit/>
          </a:bodyPr>
          <a:lstStyle/>
          <a:p>
            <a:pPr algn="l"/>
            <a:r>
              <a:rPr sz="1150" b="1">
                <a:solidFill>
                  <a:srgbClr val="14142B"/>
                </a:solidFill>
                <a:latin typeface="Calibri"/>
              </a:rPr>
              <a:t>AI Disclosure Form</a:t>
            </a:r>
          </a:p>
        </p:txBody>
      </p:sp>
      <p:sp>
        <p:nvSpPr>
          <p:cNvPr id="21" name="TextBox 20"/>
          <p:cNvSpPr txBox="1"/>
          <p:nvPr/>
        </p:nvSpPr>
        <p:spPr>
          <a:xfrm>
            <a:off x="5074920" y="4197095"/>
            <a:ext cx="5440680" cy="201168"/>
          </a:xfrm>
          <a:prstGeom prst="rect">
            <a:avLst/>
          </a:prstGeom>
          <a:noFill/>
        </p:spPr>
        <p:txBody>
          <a:bodyPr wrap="square" anchor="t">
            <a:spAutoFit/>
          </a:bodyPr>
          <a:lstStyle/>
          <a:p>
            <a:pPr algn="l"/>
            <a:r>
              <a:rPr sz="1050" b="0">
                <a:solidFill>
                  <a:srgbClr val="63637E"/>
                </a:solidFill>
                <a:latin typeface="Calibri"/>
              </a:rPr>
              <a:t>INCLUDED</a:t>
            </a:r>
          </a:p>
        </p:txBody>
      </p:sp>
      <p:sp>
        <p:nvSpPr>
          <p:cNvPr id="22" name="Rounded Rectangle 21"/>
          <p:cNvSpPr/>
          <p:nvPr/>
        </p:nvSpPr>
        <p:spPr>
          <a:xfrm>
            <a:off x="868680" y="4572000"/>
            <a:ext cx="10012680" cy="338328"/>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51560" y="4626864"/>
            <a:ext cx="3886200" cy="201168"/>
          </a:xfrm>
          <a:prstGeom prst="rect">
            <a:avLst/>
          </a:prstGeom>
          <a:noFill/>
        </p:spPr>
        <p:txBody>
          <a:bodyPr wrap="square" anchor="t">
            <a:spAutoFit/>
          </a:bodyPr>
          <a:lstStyle/>
          <a:p>
            <a:pPr algn="l"/>
            <a:r>
              <a:rPr sz="1150" b="1">
                <a:solidFill>
                  <a:srgbClr val="14142B"/>
                </a:solidFill>
                <a:latin typeface="Calibri"/>
              </a:rPr>
              <a:t>Theme 2 offline results.jsonl</a:t>
            </a:r>
          </a:p>
        </p:txBody>
      </p:sp>
      <p:sp>
        <p:nvSpPr>
          <p:cNvPr id="24" name="TextBox 23"/>
          <p:cNvSpPr txBox="1"/>
          <p:nvPr/>
        </p:nvSpPr>
        <p:spPr>
          <a:xfrm>
            <a:off x="5074920" y="4626864"/>
            <a:ext cx="5440680" cy="201168"/>
          </a:xfrm>
          <a:prstGeom prst="rect">
            <a:avLst/>
          </a:prstGeom>
          <a:noFill/>
        </p:spPr>
        <p:txBody>
          <a:bodyPr wrap="square" anchor="t">
            <a:spAutoFit/>
          </a:bodyPr>
          <a:lstStyle/>
          <a:p>
            <a:pPr algn="l"/>
            <a:r>
              <a:rPr sz="1050" b="0">
                <a:solidFill>
                  <a:srgbClr val="63637E"/>
                </a:solidFill>
                <a:latin typeface="Calibri"/>
              </a:rPr>
              <a:t>INCLUDED</a:t>
            </a:r>
          </a:p>
        </p:txBody>
      </p:sp>
      <p:sp>
        <p:nvSpPr>
          <p:cNvPr id="25" name="Rounded Rectangle 24"/>
          <p:cNvSpPr/>
          <p:nvPr/>
        </p:nvSpPr>
        <p:spPr>
          <a:xfrm>
            <a:off x="868680" y="5001768"/>
            <a:ext cx="10012680" cy="338328"/>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51560" y="5056632"/>
            <a:ext cx="3886200" cy="201168"/>
          </a:xfrm>
          <a:prstGeom prst="rect">
            <a:avLst/>
          </a:prstGeom>
          <a:noFill/>
        </p:spPr>
        <p:txBody>
          <a:bodyPr wrap="square" anchor="t">
            <a:spAutoFit/>
          </a:bodyPr>
          <a:lstStyle/>
          <a:p>
            <a:pPr algn="l"/>
            <a:r>
              <a:rPr sz="1150" b="1">
                <a:solidFill>
                  <a:srgbClr val="14142B"/>
                </a:solidFill>
                <a:latin typeface="Calibri"/>
              </a:rPr>
              <a:t>Required Git release tag</a:t>
            </a:r>
          </a:p>
        </p:txBody>
      </p:sp>
      <p:sp>
        <p:nvSpPr>
          <p:cNvPr id="27" name="TextBox 26"/>
          <p:cNvSpPr txBox="1"/>
          <p:nvPr/>
        </p:nvSpPr>
        <p:spPr>
          <a:xfrm>
            <a:off x="5074920" y="5056632"/>
            <a:ext cx="5440680" cy="201168"/>
          </a:xfrm>
          <a:prstGeom prst="rect">
            <a:avLst/>
          </a:prstGeom>
          <a:noFill/>
        </p:spPr>
        <p:txBody>
          <a:bodyPr wrap="square" anchor="t">
            <a:spAutoFit/>
          </a:bodyPr>
          <a:lstStyle/>
          <a:p>
            <a:pPr algn="l"/>
            <a:r>
              <a:rPr sz="1050" b="0">
                <a:solidFill>
                  <a:srgbClr val="63637E"/>
                </a:solidFill>
                <a:latin typeface="Calibri"/>
              </a:rPr>
              <a:t>PRISM_GENAI_HACKATHON_Y2026</a:t>
            </a:r>
          </a:p>
        </p:txBody>
      </p:sp>
      <p:sp>
        <p:nvSpPr>
          <p:cNvPr id="28" name="TextBox 27"/>
          <p:cNvSpPr txBox="1"/>
          <p:nvPr/>
        </p:nvSpPr>
        <p:spPr>
          <a:xfrm>
            <a:off x="896112" y="5623560"/>
            <a:ext cx="9966960" cy="411480"/>
          </a:xfrm>
          <a:prstGeom prst="rect">
            <a:avLst/>
          </a:prstGeom>
          <a:noFill/>
        </p:spPr>
        <p:txBody>
          <a:bodyPr wrap="square" anchor="t">
            <a:spAutoFit/>
          </a:bodyPr>
          <a:lstStyle/>
          <a:p>
            <a:r>
              <a:t>GitHub repository: github.com/rayyyzer/SYNTRA  •  Demo URL: [PLACEHOLDER]</a:t>
            </a:r>
          </a:p>
        </p:txBody>
      </p:sp>
      <p:sp>
        <p:nvSpPr>
          <p:cNvPr id="29" name="TextBox 28"/>
          <p:cNvSpPr txBox="1"/>
          <p:nvPr/>
        </p:nvSpPr>
        <p:spPr>
          <a:xfrm>
            <a:off x="10927080" y="6080760"/>
            <a:ext cx="411480" cy="228600"/>
          </a:xfrm>
          <a:prstGeom prst="rect">
            <a:avLst/>
          </a:prstGeom>
          <a:noFill/>
        </p:spPr>
        <p:txBody>
          <a:bodyPr wrap="square" anchor="t">
            <a:spAutoFit/>
          </a:bodyPr>
          <a:lstStyle/>
          <a:p>
            <a:pPr algn="r"/>
            <a:r>
              <a:rPr sz="900" b="0">
                <a:solidFill>
                  <a:srgbClr val="63637E"/>
                </a:solidFill>
                <a:latin typeface="Arial"/>
              </a:rPr>
              <a:t>10</a:t>
            </a:r>
          </a:p>
        </p:txBody>
      </p:sp>
    </p:spTree>
    <p:extLst>
      <p:ext uri="{BB962C8B-B14F-4D97-AF65-F5344CB8AC3E}">
        <p14:creationId xmlns:p14="http://schemas.microsoft.com/office/powerpoint/2010/main" val="2095517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E28A-8ABF-4E15-B9E1-B0F49C0EE29F}"/>
              </a:ext>
            </a:extLst>
          </p:cNvPr>
          <p:cNvSpPr>
            <a:spLocks noGrp="1"/>
          </p:cNvSpPr>
          <p:nvPr>
            <p:ph type="title"/>
          </p:nvPr>
        </p:nvSpPr>
        <p:spPr/>
        <p:txBody>
          <a:bodyPr wrap="square" anchor="t"/>
          <a:lstStyle/>
          <a:p>
            <a:pPr algn="l"/>
            <a:r>
              <a:rPr sz="2800" b="1">
                <a:solidFill>
                  <a:srgbClr val="704EA6"/>
                </a:solidFill>
                <a:latin typeface="Arial"/>
              </a:rPr>
              <a:t>Final Submission / Required Template Content</a:t>
            </a:r>
          </a:p>
        </p:txBody>
      </p:sp>
      <p:sp>
        <p:nvSpPr>
          <p:cNvPr id="3" name="TextBox 2"/>
          <p:cNvSpPr txBox="1"/>
          <p:nvPr/>
        </p:nvSpPr>
        <p:spPr>
          <a:xfrm>
            <a:off x="914400" y="1572768"/>
            <a:ext cx="10058400" cy="411480"/>
          </a:xfrm>
          <a:prstGeom prst="rect">
            <a:avLst/>
          </a:prstGeom>
          <a:noFill/>
        </p:spPr>
        <p:txBody>
          <a:bodyPr wrap="square" anchor="t">
            <a:spAutoFit/>
          </a:bodyPr>
          <a:lstStyle/>
          <a:p>
            <a:pPr algn="l"/>
            <a:r>
              <a:rPr sz="2200" b="1">
                <a:solidFill>
                  <a:srgbClr val="14142B"/>
                </a:solidFill>
                <a:latin typeface="Arial"/>
              </a:rPr>
              <a:t>SYNTRA — Intelligent Device Guidance</a:t>
            </a:r>
          </a:p>
        </p:txBody>
      </p:sp>
      <p:sp>
        <p:nvSpPr>
          <p:cNvPr id="4" name="TextBox 3"/>
          <p:cNvSpPr txBox="1"/>
          <p:nvPr/>
        </p:nvSpPr>
        <p:spPr>
          <a:xfrm>
            <a:off x="914400" y="2084831"/>
            <a:ext cx="10058400" cy="502920"/>
          </a:xfrm>
          <a:prstGeom prst="rect">
            <a:avLst/>
          </a:prstGeom>
          <a:noFill/>
        </p:spPr>
        <p:txBody>
          <a:bodyPr wrap="square" anchor="t">
            <a:spAutoFit/>
          </a:bodyPr>
          <a:lstStyle/>
          <a:p>
            <a:pPr algn="l"/>
            <a:r>
              <a:rPr sz="1500" b="0">
                <a:solidFill>
                  <a:srgbClr val="63637E"/>
                </a:solidFill>
                <a:latin typeface="Calibri"/>
              </a:rPr>
              <a:t>Samsung PRISM Generative AI Hackathon • 3rd Edition 2026–27 • Theme 2</a:t>
            </a:r>
          </a:p>
        </p:txBody>
      </p:sp>
      <p:sp>
        <p:nvSpPr>
          <p:cNvPr id="5" name="Rounded Rectangle 4"/>
          <p:cNvSpPr/>
          <p:nvPr/>
        </p:nvSpPr>
        <p:spPr>
          <a:xfrm>
            <a:off x="868680" y="2880360"/>
            <a:ext cx="4892040" cy="960120"/>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14983" y="2990088"/>
            <a:ext cx="4599431" cy="274320"/>
          </a:xfrm>
          <a:prstGeom prst="rect">
            <a:avLst/>
          </a:prstGeom>
          <a:noFill/>
        </p:spPr>
        <p:txBody>
          <a:bodyPr wrap="square" anchor="t">
            <a:spAutoFit/>
          </a:bodyPr>
          <a:lstStyle/>
          <a:p>
            <a:pPr algn="l"/>
            <a:r>
              <a:rPr sz="1300" b="1">
                <a:solidFill>
                  <a:srgbClr val="6D28D9"/>
                </a:solidFill>
                <a:latin typeface="Arial"/>
              </a:rPr>
              <a:t>PROJECT</a:t>
            </a:r>
          </a:p>
        </p:txBody>
      </p:sp>
      <p:sp>
        <p:nvSpPr>
          <p:cNvPr id="7" name="TextBox 6"/>
          <p:cNvSpPr txBox="1"/>
          <p:nvPr/>
        </p:nvSpPr>
        <p:spPr>
          <a:xfrm>
            <a:off x="1014983" y="3319272"/>
            <a:ext cx="4599431" cy="429768"/>
          </a:xfrm>
          <a:prstGeom prst="rect">
            <a:avLst/>
          </a:prstGeom>
          <a:noFill/>
        </p:spPr>
        <p:txBody>
          <a:bodyPr wrap="square" anchor="t">
            <a:spAutoFit/>
          </a:bodyPr>
          <a:lstStyle/>
          <a:p>
            <a:pPr algn="l"/>
            <a:r>
              <a:rPr sz="1100" b="0">
                <a:solidFill>
                  <a:srgbClr val="63637E"/>
                </a:solidFill>
                <a:latin typeface="Calibri"/>
              </a:rPr>
              <a:t>SYNTRA</a:t>
            </a:r>
          </a:p>
        </p:txBody>
      </p:sp>
      <p:sp>
        <p:nvSpPr>
          <p:cNvPr id="8" name="Rounded Rectangle 7"/>
          <p:cNvSpPr/>
          <p:nvPr/>
        </p:nvSpPr>
        <p:spPr>
          <a:xfrm>
            <a:off x="6126480" y="2880360"/>
            <a:ext cx="4892040" cy="960120"/>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272784" y="2990088"/>
            <a:ext cx="4599431" cy="274320"/>
          </a:xfrm>
          <a:prstGeom prst="rect">
            <a:avLst/>
          </a:prstGeom>
          <a:noFill/>
        </p:spPr>
        <p:txBody>
          <a:bodyPr wrap="square" anchor="t">
            <a:spAutoFit/>
          </a:bodyPr>
          <a:lstStyle/>
          <a:p>
            <a:pPr algn="l"/>
            <a:r>
              <a:rPr sz="1300" b="1">
                <a:solidFill>
                  <a:srgbClr val="6D28D9"/>
                </a:solidFill>
                <a:latin typeface="Arial"/>
              </a:rPr>
              <a:t>THEME</a:t>
            </a:r>
          </a:p>
        </p:txBody>
      </p:sp>
      <p:sp>
        <p:nvSpPr>
          <p:cNvPr id="10" name="TextBox 9"/>
          <p:cNvSpPr txBox="1"/>
          <p:nvPr/>
        </p:nvSpPr>
        <p:spPr>
          <a:xfrm>
            <a:off x="6272784" y="3319272"/>
            <a:ext cx="4599431" cy="429768"/>
          </a:xfrm>
          <a:prstGeom prst="rect">
            <a:avLst/>
          </a:prstGeom>
          <a:noFill/>
        </p:spPr>
        <p:txBody>
          <a:bodyPr wrap="square" anchor="t">
            <a:spAutoFit/>
          </a:bodyPr>
          <a:lstStyle/>
          <a:p>
            <a:pPr algn="l"/>
            <a:r>
              <a:rPr sz="1100" b="0">
                <a:solidFill>
                  <a:srgbClr val="63637E"/>
                </a:solidFill>
                <a:latin typeface="Calibri"/>
              </a:rPr>
              <a:t>Theme 2 — Smart Guided Troubleshooting Engine</a:t>
            </a:r>
          </a:p>
        </p:txBody>
      </p:sp>
      <p:sp>
        <p:nvSpPr>
          <p:cNvPr id="11" name="Rounded Rectangle 10"/>
          <p:cNvSpPr/>
          <p:nvPr/>
        </p:nvSpPr>
        <p:spPr>
          <a:xfrm>
            <a:off x="868680" y="4114800"/>
            <a:ext cx="4892040" cy="960120"/>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14983" y="4224528"/>
            <a:ext cx="4599431" cy="274320"/>
          </a:xfrm>
          <a:prstGeom prst="rect">
            <a:avLst/>
          </a:prstGeom>
          <a:noFill/>
        </p:spPr>
        <p:txBody>
          <a:bodyPr wrap="square" anchor="t">
            <a:spAutoFit/>
          </a:bodyPr>
          <a:lstStyle/>
          <a:p>
            <a:pPr algn="l"/>
            <a:r>
              <a:rPr sz="1300" b="1">
                <a:solidFill>
                  <a:srgbClr val="6D28D9"/>
                </a:solidFill>
                <a:latin typeface="Arial"/>
              </a:rPr>
              <a:t>TEAM</a:t>
            </a:r>
          </a:p>
        </p:txBody>
      </p:sp>
      <p:sp>
        <p:nvSpPr>
          <p:cNvPr id="13" name="TextBox 12"/>
          <p:cNvSpPr txBox="1"/>
          <p:nvPr/>
        </p:nvSpPr>
        <p:spPr>
          <a:xfrm>
            <a:off x="1014983" y="4553712"/>
            <a:ext cx="4599431" cy="429768"/>
          </a:xfrm>
          <a:prstGeom prst="rect">
            <a:avLst/>
          </a:prstGeom>
          <a:noFill/>
        </p:spPr>
        <p:txBody>
          <a:bodyPr wrap="square" anchor="t">
            <a:spAutoFit/>
          </a:bodyPr>
          <a:lstStyle/>
          <a:p>
            <a:pPr algn="l"/>
            <a:r>
              <a:rPr sz="1100" b="0">
                <a:solidFill>
                  <a:srgbClr val="63637E"/>
                </a:solidFill>
                <a:latin typeface="Calibri"/>
              </a:rPr>
              <a:t>Muhammad Rayhan • Charan Kotta • Rajiit Gupta</a:t>
            </a:r>
          </a:p>
        </p:txBody>
      </p:sp>
      <p:sp>
        <p:nvSpPr>
          <p:cNvPr id="14" name="Rounded Rectangle 13"/>
          <p:cNvSpPr/>
          <p:nvPr/>
        </p:nvSpPr>
        <p:spPr>
          <a:xfrm>
            <a:off x="6126480" y="4114800"/>
            <a:ext cx="4892040" cy="960120"/>
          </a:xfrm>
          <a:prstGeom prst="roundRect">
            <a:avLst/>
          </a:prstGeom>
          <a:solidFill>
            <a:srgbClr val="FFFFFF"/>
          </a:solidFill>
          <a:ln w="12700">
            <a:solidFill>
              <a:srgbClr val="DC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72784" y="4224528"/>
            <a:ext cx="4599431" cy="274320"/>
          </a:xfrm>
          <a:prstGeom prst="rect">
            <a:avLst/>
          </a:prstGeom>
          <a:noFill/>
        </p:spPr>
        <p:txBody>
          <a:bodyPr wrap="square" anchor="t">
            <a:spAutoFit/>
          </a:bodyPr>
          <a:lstStyle/>
          <a:p>
            <a:pPr algn="l"/>
            <a:r>
              <a:rPr sz="1300" b="1">
                <a:solidFill>
                  <a:srgbClr val="6D28D9"/>
                </a:solidFill>
                <a:latin typeface="Arial"/>
              </a:rPr>
              <a:t>REQUIRED TAG</a:t>
            </a:r>
          </a:p>
        </p:txBody>
      </p:sp>
      <p:sp>
        <p:nvSpPr>
          <p:cNvPr id="16" name="TextBox 15"/>
          <p:cNvSpPr txBox="1"/>
          <p:nvPr/>
        </p:nvSpPr>
        <p:spPr>
          <a:xfrm>
            <a:off x="6272784" y="4553712"/>
            <a:ext cx="4599431" cy="429768"/>
          </a:xfrm>
          <a:prstGeom prst="rect">
            <a:avLst/>
          </a:prstGeom>
          <a:noFill/>
        </p:spPr>
        <p:txBody>
          <a:bodyPr wrap="square" anchor="t">
            <a:spAutoFit/>
          </a:bodyPr>
          <a:lstStyle/>
          <a:p>
            <a:pPr algn="l"/>
            <a:r>
              <a:rPr sz="1100" b="0">
                <a:solidFill>
                  <a:srgbClr val="63637E"/>
                </a:solidFill>
                <a:latin typeface="Calibri"/>
              </a:rPr>
              <a:t>PRISM_GENAI_HACKATHON_Y2026</a:t>
            </a:r>
          </a:p>
        </p:txBody>
      </p:sp>
      <p:sp>
        <p:nvSpPr>
          <p:cNvPr id="17" name="Rounded Rectangle 16"/>
          <p:cNvSpPr/>
          <p:nvPr/>
        </p:nvSpPr>
        <p:spPr>
          <a:xfrm>
            <a:off x="868680" y="5440680"/>
            <a:ext cx="10012680" cy="658368"/>
          </a:xfrm>
          <a:prstGeom prst="roundRect">
            <a:avLst/>
          </a:prstGeom>
          <a:solidFill>
            <a:srgbClr val="F5F2FC"/>
          </a:solidFill>
          <a:ln w="12700">
            <a:solidFill>
              <a:srgbClr val="F5F2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78992" y="5596128"/>
            <a:ext cx="9601200" cy="369332"/>
          </a:xfrm>
          <a:prstGeom prst="rect">
            <a:avLst/>
          </a:prstGeom>
          <a:noFill/>
        </p:spPr>
        <p:txBody>
          <a:bodyPr wrap="square" anchor="t">
            <a:spAutoFit/>
          </a:bodyPr>
          <a:lstStyle/>
          <a:p>
            <a:r>
              <a:rPr dirty="0">
                <a:hlinkClick r:id="rId2"/>
              </a:rPr>
              <a:t>Team: Trust Me It Works  •  College: </a:t>
            </a:r>
            <a:r>
              <a:rPr lang="en-IN" dirty="0">
                <a:hlinkClick r:id="rId2"/>
              </a:rPr>
              <a:t>SRMIST</a:t>
            </a:r>
            <a:r>
              <a:rPr dirty="0">
                <a:hlinkClick r:id="rId2"/>
              </a:rPr>
              <a:t>  •  GitHub: github.com/</a:t>
            </a:r>
            <a:r>
              <a:rPr dirty="0" err="1">
                <a:hlinkClick r:id="rId2"/>
              </a:rPr>
              <a:t>rayyyzer</a:t>
            </a:r>
            <a:r>
              <a:rPr dirty="0">
                <a:hlinkClick r:id="rId2"/>
              </a:rPr>
              <a:t>/SYNTRA</a:t>
            </a:r>
          </a:p>
        </p:txBody>
      </p:sp>
      <p:sp>
        <p:nvSpPr>
          <p:cNvPr id="19" name="TextBox 18"/>
          <p:cNvSpPr txBox="1"/>
          <p:nvPr/>
        </p:nvSpPr>
        <p:spPr>
          <a:xfrm>
            <a:off x="10927080" y="6080760"/>
            <a:ext cx="411480" cy="228600"/>
          </a:xfrm>
          <a:prstGeom prst="rect">
            <a:avLst/>
          </a:prstGeom>
          <a:noFill/>
        </p:spPr>
        <p:txBody>
          <a:bodyPr wrap="square" anchor="t">
            <a:spAutoFit/>
          </a:bodyPr>
          <a:lstStyle/>
          <a:p>
            <a:pPr algn="r"/>
            <a:r>
              <a:rPr sz="900" b="0">
                <a:solidFill>
                  <a:srgbClr val="63637E"/>
                </a:solidFill>
                <a:latin typeface="Arial"/>
              </a:rPr>
              <a:t>11</a:t>
            </a:r>
          </a:p>
        </p:txBody>
      </p:sp>
    </p:spTree>
    <p:extLst>
      <p:ext uri="{BB962C8B-B14F-4D97-AF65-F5344CB8AC3E}">
        <p14:creationId xmlns:p14="http://schemas.microsoft.com/office/powerpoint/2010/main" val="180699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1046181" y="3730214"/>
            <a:ext cx="6766560" cy="868680"/>
          </a:xfrm>
          <a:prstGeom prst="rect">
            <a:avLst/>
          </a:prstGeom>
          <a:noFill/>
          <a:ln/>
        </p:spPr>
        <p:txBody>
          <a:bodyPr wrap="square" lIns="0" tIns="0" rIns="0" bIns="0" rtlCol="0" anchor="t"/>
          <a:lstStyle/>
          <a:p>
            <a:pPr marL="0" indent="0" algn="l">
              <a:buNone/>
            </a:pPr>
            <a:r>
              <a:rPr sz="4600" b="0">
                <a:solidFill>
                  <a:srgbClr val="14142B"/>
                </a:solidFill>
                <a:latin typeface="Arial"/>
              </a:rPr>
              <a:t>Thank you</a:t>
            </a:r>
            <a:endParaRPr lang="en-US" sz="4600" dirty="0"/>
          </a:p>
        </p:txBody>
      </p:sp>
      <p:sp>
        <p:nvSpPr>
          <p:cNvPr id="28" name="Text 25"/>
          <p:cNvSpPr txBox="1"/>
          <p:nvPr/>
        </p:nvSpPr>
        <p:spPr>
          <a:xfrm>
            <a:off x="777240" y="5897880"/>
            <a:ext cx="10607040" cy="292608"/>
          </a:xfrm>
          <a:prstGeom prst="rect">
            <a:avLst/>
          </a:prstGeom>
          <a:noFill/>
          <a:ln/>
        </p:spPr>
        <p:txBody>
          <a:bodyPr wrap="square" lIns="0" tIns="0" rIns="0" bIns="0" rtlCol="0" anchor="t"/>
          <a:lstStyle/>
          <a:p>
            <a:pPr marL="0" indent="0" algn="l">
              <a:buNone/>
            </a:pPr>
            <a:r>
              <a:rPr sz="1100" b="0">
                <a:solidFill>
                  <a:srgbClr val="63637E"/>
                </a:solidFill>
                <a:latin typeface="Calibri"/>
              </a:rPr>
              <a:t>Organised by the Language AI Team and the PRISM Team, Samsung R&amp;D Institute India</a:t>
            </a:r>
            <a:endParaRPr lang="en-US" sz="1100" dirty="0"/>
          </a:p>
        </p:txBody>
      </p:sp>
      <p:sp>
        <p:nvSpPr>
          <p:cNvPr id="29" name="Rounded Rectangle 28"/>
          <p:cNvSpPr/>
          <p:nvPr/>
        </p:nvSpPr>
        <p:spPr>
          <a:xfrm>
            <a:off x="7955279" y="3611880"/>
            <a:ext cx="2148840" cy="310896"/>
          </a:xfrm>
          <a:prstGeom prst="roundRect">
            <a:avLst/>
          </a:prstGeom>
          <a:solidFill>
            <a:srgbClr val="6D28D9"/>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Arial"/>
              </a:rPr>
              <a:t>SYNTRA</a:t>
            </a:r>
          </a:p>
        </p:txBody>
      </p:sp>
      <p:sp>
        <p:nvSpPr>
          <p:cNvPr id="30" name="TextBox 29"/>
          <p:cNvSpPr txBox="1"/>
          <p:nvPr/>
        </p:nvSpPr>
        <p:spPr>
          <a:xfrm>
            <a:off x="8001000" y="4096512"/>
            <a:ext cx="2148840" cy="502920"/>
          </a:xfrm>
          <a:prstGeom prst="rect">
            <a:avLst/>
          </a:prstGeom>
          <a:noFill/>
        </p:spPr>
        <p:txBody>
          <a:bodyPr wrap="square" anchor="t">
            <a:spAutoFit/>
          </a:bodyPr>
          <a:lstStyle/>
          <a:p>
            <a:pPr algn="l"/>
            <a:r>
              <a:rPr sz="1700" b="1">
                <a:solidFill>
                  <a:srgbClr val="14142B"/>
                </a:solidFill>
                <a:latin typeface="Arial"/>
              </a:rPr>
              <a:t>Intelligent Device
Guidance</a:t>
            </a:r>
          </a:p>
        </p:txBody>
      </p:sp>
      <p:sp>
        <p:nvSpPr>
          <p:cNvPr id="31" name="TextBox 30"/>
          <p:cNvSpPr txBox="1"/>
          <p:nvPr/>
        </p:nvSpPr>
        <p:spPr>
          <a:xfrm>
            <a:off x="8001000" y="4754880"/>
            <a:ext cx="2148840" cy="457200"/>
          </a:xfrm>
          <a:prstGeom prst="rect">
            <a:avLst/>
          </a:prstGeom>
          <a:noFill/>
        </p:spPr>
        <p:txBody>
          <a:bodyPr wrap="square" anchor="t">
            <a:spAutoFit/>
          </a:bodyPr>
          <a:lstStyle/>
          <a:p>
            <a:pPr algn="l"/>
            <a:r>
              <a:rPr sz="1050" b="0">
                <a:solidFill>
                  <a:srgbClr val="63637E"/>
                </a:solidFill>
                <a:latin typeface="Calibri"/>
              </a:rPr>
              <a:t>Theme 2 • Smart Guided Troubleshooting Engine</a:t>
            </a:r>
          </a:p>
        </p:txBody>
      </p:sp>
      <p:sp>
        <p:nvSpPr>
          <p:cNvPr id="32" name="TextBox 31"/>
          <p:cNvSpPr txBox="1"/>
          <p:nvPr/>
        </p:nvSpPr>
        <p:spPr>
          <a:xfrm>
            <a:off x="10927080" y="6080760"/>
            <a:ext cx="411480" cy="228600"/>
          </a:xfrm>
          <a:prstGeom prst="rect">
            <a:avLst/>
          </a:prstGeom>
          <a:noFill/>
        </p:spPr>
        <p:txBody>
          <a:bodyPr wrap="square" anchor="t">
            <a:spAutoFit/>
          </a:bodyPr>
          <a:lstStyle/>
          <a:p>
            <a:pPr algn="r"/>
            <a:r>
              <a:rPr sz="900" b="0">
                <a:solidFill>
                  <a:srgbClr val="63637E"/>
                </a:solidFill>
                <a:latin typeface="Arial"/>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81</TotalTime>
  <Words>1093</Words>
  <Application>Microsoft Office PowerPoint</Application>
  <PresentationFormat>Widescreen</PresentationFormat>
  <Paragraphs>203</Paragraphs>
  <Slides>12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Theme / Existing Solutions &amp; Gaps</vt:lpstr>
      <vt:lpstr>Our Solution &amp; Architecture Diagram</vt:lpstr>
      <vt:lpstr>Demo &amp; Product Walkthrough</vt:lpstr>
      <vt:lpstr>Tools and Tech Stack Used</vt:lpstr>
      <vt:lpstr>Impact &amp; Use Case</vt:lpstr>
      <vt:lpstr>Innovation Highlights, Results &amp; Limitations</vt:lpstr>
      <vt:lpstr>What’s Next</vt:lpstr>
      <vt:lpstr>Brownie Points / Differentiation</vt:lpstr>
      <vt:lpstr>Checklist — Updated on Public GitHub</vt:lpstr>
      <vt:lpstr>Final Submission / Required Template Content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Binny Lakra/PRISM /SRI-Bangalore/Professional/Samsung Electronics</dc:creator>
  <cp:lastModifiedBy>Muhammad Rayhan A.R</cp:lastModifiedBy>
  <cp:revision>7</cp:revision>
  <dcterms:created xsi:type="dcterms:W3CDTF">2026-09-07T12:01:01Z</dcterms:created>
  <dcterms:modified xsi:type="dcterms:W3CDTF">2026-09-30T18:12:05Z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